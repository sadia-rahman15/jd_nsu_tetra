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9144000" cy="5143500"/>
  <p:notesSz cx="9144000" cy="51435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4000" y="0"/>
                </a:moveTo>
                <a:lnTo>
                  <a:pt x="0" y="0"/>
                </a:lnTo>
                <a:lnTo>
                  <a:pt x="0" y="5143500"/>
                </a:lnTo>
                <a:lnTo>
                  <a:pt x="9144000" y="5143500"/>
                </a:lnTo>
                <a:lnTo>
                  <a:pt x="9144000" y="0"/>
                </a:lnTo>
                <a:close/>
              </a:path>
            </a:pathLst>
          </a:custGeom>
          <a:solidFill>
            <a:srgbClr val="181617">
              <a:alpha val="94900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4000" y="0"/>
                </a:moveTo>
                <a:lnTo>
                  <a:pt x="0" y="0"/>
                </a:lnTo>
                <a:lnTo>
                  <a:pt x="0" y="5143500"/>
                </a:lnTo>
                <a:lnTo>
                  <a:pt x="9144000" y="5143500"/>
                </a:lnTo>
                <a:lnTo>
                  <a:pt x="9144000" y="0"/>
                </a:lnTo>
                <a:close/>
              </a:path>
            </a:pathLst>
          </a:custGeom>
          <a:solidFill>
            <a:srgbClr val="181617">
              <a:alpha val="79998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9" name="bg object 1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029181" y="4844491"/>
            <a:ext cx="1071843" cy="256032"/>
          </a:xfrm>
          <a:prstGeom prst="rect">
            <a:avLst/>
          </a:prstGeom>
        </p:spPr>
      </p:pic>
      <p:sp>
        <p:nvSpPr>
          <p:cNvPr id="20" name="bg object 20"/>
          <p:cNvSpPr/>
          <p:nvPr/>
        </p:nvSpPr>
        <p:spPr>
          <a:xfrm>
            <a:off x="540023" y="1624533"/>
            <a:ext cx="19050" cy="1894839"/>
          </a:xfrm>
          <a:custGeom>
            <a:avLst/>
            <a:gdLst/>
            <a:ahLst/>
            <a:cxnLst/>
            <a:rect l="l" t="t" r="r" b="b"/>
            <a:pathLst>
              <a:path w="19050" h="1894839">
                <a:moveTo>
                  <a:pt x="14749" y="0"/>
                </a:moveTo>
                <a:lnTo>
                  <a:pt x="4299" y="0"/>
                </a:lnTo>
                <a:lnTo>
                  <a:pt x="0" y="4305"/>
                </a:lnTo>
                <a:lnTo>
                  <a:pt x="0" y="9525"/>
                </a:lnTo>
                <a:lnTo>
                  <a:pt x="0" y="1890064"/>
                </a:lnTo>
                <a:lnTo>
                  <a:pt x="4299" y="1894357"/>
                </a:lnTo>
                <a:lnTo>
                  <a:pt x="14749" y="1894357"/>
                </a:lnTo>
                <a:lnTo>
                  <a:pt x="19049" y="1890064"/>
                </a:lnTo>
                <a:lnTo>
                  <a:pt x="19049" y="4305"/>
                </a:lnTo>
                <a:lnTo>
                  <a:pt x="14749" y="0"/>
                </a:lnTo>
                <a:close/>
              </a:path>
            </a:pathLst>
          </a:custGeom>
          <a:solidFill>
            <a:srgbClr val="F65F6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016787" y="1828761"/>
            <a:ext cx="3342004" cy="8483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4000" y="0"/>
                </a:moveTo>
                <a:lnTo>
                  <a:pt x="0" y="0"/>
                </a:lnTo>
                <a:lnTo>
                  <a:pt x="0" y="5143500"/>
                </a:lnTo>
                <a:lnTo>
                  <a:pt x="9144000" y="5143500"/>
                </a:lnTo>
                <a:lnTo>
                  <a:pt x="9144000" y="0"/>
                </a:lnTo>
                <a:close/>
              </a:path>
            </a:pathLst>
          </a:custGeom>
          <a:solidFill>
            <a:srgbClr val="181617">
              <a:alpha val="94900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29181" y="4844491"/>
            <a:ext cx="1071843" cy="256032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4000" y="0"/>
                </a:moveTo>
                <a:lnTo>
                  <a:pt x="0" y="0"/>
                </a:lnTo>
                <a:lnTo>
                  <a:pt x="0" y="5143500"/>
                </a:lnTo>
                <a:lnTo>
                  <a:pt x="9144000" y="5143500"/>
                </a:lnTo>
                <a:lnTo>
                  <a:pt x="9144000" y="0"/>
                </a:lnTo>
                <a:close/>
              </a:path>
            </a:pathLst>
          </a:custGeom>
          <a:solidFill>
            <a:srgbClr val="181617">
              <a:alpha val="94900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29181" y="4844491"/>
            <a:ext cx="1071843" cy="256032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4000" y="0"/>
                </a:moveTo>
                <a:lnTo>
                  <a:pt x="0" y="0"/>
                </a:lnTo>
                <a:lnTo>
                  <a:pt x="0" y="5143500"/>
                </a:lnTo>
                <a:lnTo>
                  <a:pt x="9144000" y="5143500"/>
                </a:lnTo>
                <a:lnTo>
                  <a:pt x="9144000" y="0"/>
                </a:lnTo>
                <a:close/>
              </a:path>
            </a:pathLst>
          </a:custGeom>
          <a:solidFill>
            <a:srgbClr val="181617">
              <a:alpha val="94900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956316" y="2027250"/>
            <a:ext cx="4713605" cy="4368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57200" y="1183005"/>
            <a:ext cx="822960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image" Target="../media/image10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1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1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22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3" name="object 3" descr=""/>
            <p:cNvSpPr/>
            <p:nvPr/>
          </p:nvSpPr>
          <p:spPr>
            <a:xfrm>
              <a:off x="0" y="0"/>
              <a:ext cx="5715000" cy="5143500"/>
            </a:xfrm>
            <a:custGeom>
              <a:avLst/>
              <a:gdLst/>
              <a:ahLst/>
              <a:cxnLst/>
              <a:rect l="l" t="t" r="r" b="b"/>
              <a:pathLst>
                <a:path w="5715000" h="5143500">
                  <a:moveTo>
                    <a:pt x="0" y="5143500"/>
                  </a:moveTo>
                  <a:lnTo>
                    <a:pt x="5715000" y="5143500"/>
                  </a:lnTo>
                  <a:lnTo>
                    <a:pt x="5715000" y="0"/>
                  </a:lnTo>
                  <a:lnTo>
                    <a:pt x="0" y="0"/>
                  </a:lnTo>
                  <a:lnTo>
                    <a:pt x="0" y="5143500"/>
                  </a:lnTo>
                  <a:close/>
                </a:path>
              </a:pathLst>
            </a:custGeom>
            <a:solidFill>
              <a:srgbClr val="181617">
                <a:alpha val="949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715000" y="0"/>
              <a:ext cx="3429000" cy="5143500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27323" y="2098319"/>
            <a:ext cx="1587500" cy="4368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AmarCure</a:t>
            </a:r>
          </a:p>
        </p:txBody>
      </p:sp>
      <p:sp>
        <p:nvSpPr>
          <p:cNvPr id="6" name="object 6" descr=""/>
          <p:cNvSpPr txBox="1"/>
          <p:nvPr/>
        </p:nvSpPr>
        <p:spPr>
          <a:xfrm>
            <a:off x="527323" y="2762402"/>
            <a:ext cx="442023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E4DFDF"/>
                </a:solidFill>
                <a:latin typeface="Arial"/>
                <a:cs typeface="Arial"/>
              </a:rPr>
              <a:t>An</a:t>
            </a:r>
            <a:r>
              <a:rPr dirty="0" sz="1200" spc="-35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E4DFDF"/>
                </a:solidFill>
                <a:latin typeface="Arial"/>
                <a:cs typeface="Arial"/>
              </a:rPr>
              <a:t>AI-</a:t>
            </a:r>
            <a:r>
              <a:rPr dirty="0" sz="1200">
                <a:solidFill>
                  <a:srgbClr val="E4DFDF"/>
                </a:solidFill>
                <a:latin typeface="Arial"/>
                <a:cs typeface="Arial"/>
              </a:rPr>
              <a:t>Powered</a:t>
            </a:r>
            <a:r>
              <a:rPr dirty="0" sz="1200" spc="-35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E4DFDF"/>
                </a:solidFill>
                <a:latin typeface="Arial"/>
                <a:cs typeface="Arial"/>
              </a:rPr>
              <a:t>Comprehensive</a:t>
            </a:r>
            <a:r>
              <a:rPr dirty="0" sz="1200" spc="-35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E4DFDF"/>
                </a:solidFill>
                <a:latin typeface="Arial"/>
                <a:cs typeface="Arial"/>
              </a:rPr>
              <a:t>Healthcare</a:t>
            </a:r>
            <a:r>
              <a:rPr dirty="0" sz="1200" spc="-35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E4DFDF"/>
                </a:solidFill>
                <a:latin typeface="Arial"/>
                <a:cs typeface="Arial"/>
              </a:rPr>
              <a:t>Management</a:t>
            </a:r>
            <a:r>
              <a:rPr dirty="0" sz="1200" spc="-35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E4DFDF"/>
                </a:solidFill>
                <a:latin typeface="Arial"/>
                <a:cs typeface="Arial"/>
              </a:rPr>
              <a:t>System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956316" y="1851418"/>
            <a:ext cx="2255520" cy="4368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The</a:t>
            </a:r>
            <a:r>
              <a:rPr dirty="0" spc="-25"/>
              <a:t> </a:t>
            </a:r>
            <a:r>
              <a:rPr dirty="0" spc="-10"/>
              <a:t>Challenge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3956316" y="2455138"/>
            <a:ext cx="4584065" cy="7556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3000"/>
              </a:lnSpc>
              <a:spcBef>
                <a:spcPts val="100"/>
              </a:spcBef>
            </a:pPr>
            <a:r>
              <a:rPr dirty="0" sz="1200">
                <a:solidFill>
                  <a:srgbClr val="E4DFDF"/>
                </a:solidFill>
                <a:latin typeface="Arial"/>
                <a:cs typeface="Arial"/>
              </a:rPr>
              <a:t>Bangladesh's</a:t>
            </a:r>
            <a:r>
              <a:rPr dirty="0" sz="1200" spc="-30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E4DFDF"/>
                </a:solidFill>
                <a:latin typeface="Arial"/>
                <a:cs typeface="Arial"/>
              </a:rPr>
              <a:t>healthcare</a:t>
            </a:r>
            <a:r>
              <a:rPr dirty="0" sz="1200" spc="-20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E4DFDF"/>
                </a:solidFill>
                <a:latin typeface="Arial"/>
                <a:cs typeface="Arial"/>
              </a:rPr>
              <a:t>system</a:t>
            </a:r>
            <a:r>
              <a:rPr dirty="0" sz="1200" spc="-20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E4DFDF"/>
                </a:solidFill>
                <a:latin typeface="Arial"/>
                <a:cs typeface="Arial"/>
              </a:rPr>
              <a:t>relies</a:t>
            </a:r>
            <a:r>
              <a:rPr dirty="0" sz="1200" spc="-20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E4DFDF"/>
                </a:solidFill>
                <a:latin typeface="Arial"/>
                <a:cs typeface="Arial"/>
              </a:rPr>
              <a:t>on</a:t>
            </a:r>
            <a:r>
              <a:rPr dirty="0" sz="1200" spc="-20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E4DFDF"/>
                </a:solidFill>
                <a:latin typeface="Arial"/>
                <a:cs typeface="Arial"/>
              </a:rPr>
              <a:t>fragmented,</a:t>
            </a:r>
            <a:r>
              <a:rPr dirty="0" sz="1200" spc="-15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E4DFDF"/>
                </a:solidFill>
                <a:latin typeface="Arial"/>
                <a:cs typeface="Arial"/>
              </a:rPr>
              <a:t>paper-based </a:t>
            </a:r>
            <a:r>
              <a:rPr dirty="0" sz="1200">
                <a:solidFill>
                  <a:srgbClr val="E4DFDF"/>
                </a:solidFill>
                <a:latin typeface="Arial"/>
                <a:cs typeface="Arial"/>
              </a:rPr>
              <a:t>records</a:t>
            </a:r>
            <a:r>
              <a:rPr dirty="0" sz="1200" spc="-35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E4DFDF"/>
                </a:solidFill>
                <a:latin typeface="Arial"/>
                <a:cs typeface="Arial"/>
              </a:rPr>
              <a:t>—</a:t>
            </a:r>
            <a:r>
              <a:rPr dirty="0" sz="1200" spc="-20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E4DFDF"/>
                </a:solidFill>
                <a:latin typeface="Arial"/>
                <a:cs typeface="Arial"/>
              </a:rPr>
              <a:t>making</a:t>
            </a:r>
            <a:r>
              <a:rPr dirty="0" sz="1200" spc="-25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E4DFDF"/>
                </a:solidFill>
                <a:latin typeface="Arial"/>
                <a:cs typeface="Arial"/>
              </a:rPr>
              <a:t>medical</a:t>
            </a:r>
            <a:r>
              <a:rPr dirty="0" sz="1200" spc="-20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E4DFDF"/>
                </a:solidFill>
                <a:latin typeface="Arial"/>
                <a:cs typeface="Arial"/>
              </a:rPr>
              <a:t>information</a:t>
            </a:r>
            <a:r>
              <a:rPr dirty="0" sz="1200" spc="-25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E4DFDF"/>
                </a:solidFill>
                <a:latin typeface="Arial"/>
                <a:cs typeface="Arial"/>
              </a:rPr>
              <a:t>difficult</a:t>
            </a:r>
            <a:r>
              <a:rPr dirty="0" sz="1200" spc="-20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E4DFDF"/>
                </a:solidFill>
                <a:latin typeface="Arial"/>
                <a:cs typeface="Arial"/>
              </a:rPr>
              <a:t>to</a:t>
            </a:r>
            <a:r>
              <a:rPr dirty="0" sz="1200" spc="-25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E4DFDF"/>
                </a:solidFill>
                <a:latin typeface="Arial"/>
                <a:cs typeface="Arial"/>
              </a:rPr>
              <a:t>access,</a:t>
            </a:r>
            <a:r>
              <a:rPr dirty="0" sz="1200" spc="-20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E4DFDF"/>
                </a:solidFill>
                <a:latin typeface="Arial"/>
                <a:cs typeface="Arial"/>
              </a:rPr>
              <a:t>organize, </a:t>
            </a:r>
            <a:r>
              <a:rPr dirty="0" sz="1200">
                <a:solidFill>
                  <a:srgbClr val="E4DFDF"/>
                </a:solidFill>
                <a:latin typeface="Arial"/>
                <a:cs typeface="Arial"/>
              </a:rPr>
              <a:t>and</a:t>
            </a:r>
            <a:r>
              <a:rPr dirty="0" sz="1200" spc="-10">
                <a:solidFill>
                  <a:srgbClr val="E4DFDF"/>
                </a:solidFill>
                <a:latin typeface="Arial"/>
                <a:cs typeface="Arial"/>
              </a:rPr>
              <a:t> interpret.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29181" y="4844491"/>
            <a:ext cx="1071843" cy="25603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27323" y="514861"/>
            <a:ext cx="2312035" cy="4368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Core</a:t>
            </a:r>
            <a:r>
              <a:rPr dirty="0" spc="-15"/>
              <a:t> </a:t>
            </a:r>
            <a:r>
              <a:rPr dirty="0" spc="-10"/>
              <a:t>Problems</a:t>
            </a:r>
          </a:p>
        </p:txBody>
      </p:sp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40023" y="1272032"/>
            <a:ext cx="1900237" cy="1838096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540023" y="1272032"/>
            <a:ext cx="1900555" cy="1838325"/>
          </a:xfrm>
          <a:prstGeom prst="rect">
            <a:avLst/>
          </a:prstGeom>
        </p:spPr>
        <p:txBody>
          <a:bodyPr wrap="square" lIns="0" tIns="116839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919"/>
              </a:spcBef>
            </a:pPr>
            <a:r>
              <a:rPr dirty="0" sz="1450" spc="-50">
                <a:latin typeface="Arial"/>
                <a:cs typeface="Arial"/>
              </a:rPr>
              <a:t>1</a:t>
            </a:r>
            <a:endParaRPr sz="1450">
              <a:latin typeface="Arial"/>
              <a:cs typeface="Arial"/>
            </a:endParaRPr>
          </a:p>
          <a:p>
            <a:pPr marL="172720" marR="271780">
              <a:lnSpc>
                <a:spcPct val="141200"/>
              </a:lnSpc>
              <a:spcBef>
                <a:spcPts val="1500"/>
              </a:spcBef>
            </a:pPr>
            <a:r>
              <a:rPr dirty="0" sz="1350">
                <a:solidFill>
                  <a:srgbClr val="E4DFDF"/>
                </a:solidFill>
                <a:latin typeface="Arial"/>
                <a:cs typeface="Arial"/>
              </a:rPr>
              <a:t>Paper </a:t>
            </a:r>
            <a:r>
              <a:rPr dirty="0" sz="1350" spc="-10">
                <a:solidFill>
                  <a:srgbClr val="E4DFDF"/>
                </a:solidFill>
                <a:latin typeface="Arial"/>
                <a:cs typeface="Arial"/>
              </a:rPr>
              <a:t>Records </a:t>
            </a:r>
            <a:r>
              <a:rPr dirty="0" sz="1200">
                <a:solidFill>
                  <a:srgbClr val="E4DFDF"/>
                </a:solidFill>
                <a:latin typeface="Arial"/>
                <a:cs typeface="Arial"/>
              </a:rPr>
              <a:t>Easily</a:t>
            </a:r>
            <a:r>
              <a:rPr dirty="0" sz="1200" spc="-20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E4DFDF"/>
                </a:solidFill>
                <a:latin typeface="Arial"/>
                <a:cs typeface="Arial"/>
              </a:rPr>
              <a:t>lost,</a:t>
            </a:r>
            <a:r>
              <a:rPr dirty="0" sz="1200" spc="-10">
                <a:solidFill>
                  <a:srgbClr val="E4DFDF"/>
                </a:solidFill>
                <a:latin typeface="Arial"/>
                <a:cs typeface="Arial"/>
              </a:rPr>
              <a:t> damaged, </a:t>
            </a:r>
            <a:r>
              <a:rPr dirty="0" sz="1200">
                <a:solidFill>
                  <a:srgbClr val="E4DFDF"/>
                </a:solidFill>
                <a:latin typeface="Arial"/>
                <a:cs typeface="Arial"/>
              </a:rPr>
              <a:t>or </a:t>
            </a:r>
            <a:r>
              <a:rPr dirty="0" sz="1200" spc="-10">
                <a:solidFill>
                  <a:srgbClr val="E4DFDF"/>
                </a:solidFill>
                <a:latin typeface="Arial"/>
                <a:cs typeface="Arial"/>
              </a:rPr>
              <a:t>misplaced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6" name="object 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594521" y="1272032"/>
            <a:ext cx="1900313" cy="1838096"/>
          </a:xfrm>
          <a:prstGeom prst="rect">
            <a:avLst/>
          </a:prstGeom>
        </p:spPr>
      </p:pic>
      <p:sp>
        <p:nvSpPr>
          <p:cNvPr id="7" name="object 7" descr=""/>
          <p:cNvSpPr txBox="1"/>
          <p:nvPr/>
        </p:nvSpPr>
        <p:spPr>
          <a:xfrm>
            <a:off x="2594521" y="1272032"/>
            <a:ext cx="1900555" cy="1838325"/>
          </a:xfrm>
          <a:prstGeom prst="rect">
            <a:avLst/>
          </a:prstGeom>
        </p:spPr>
        <p:txBody>
          <a:bodyPr wrap="square" lIns="0" tIns="116839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919"/>
              </a:spcBef>
            </a:pPr>
            <a:r>
              <a:rPr dirty="0" sz="1450" spc="-50">
                <a:latin typeface="Arial"/>
                <a:cs typeface="Arial"/>
              </a:rPr>
              <a:t>2</a:t>
            </a:r>
            <a:endParaRPr sz="1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0"/>
              </a:spcBef>
            </a:pPr>
            <a:endParaRPr sz="1450">
              <a:latin typeface="Arial"/>
              <a:cs typeface="Arial"/>
            </a:endParaRPr>
          </a:p>
          <a:p>
            <a:pPr marL="172720">
              <a:lnSpc>
                <a:spcPct val="100000"/>
              </a:lnSpc>
            </a:pPr>
            <a:r>
              <a:rPr dirty="0" sz="1350">
                <a:solidFill>
                  <a:srgbClr val="E4DFDF"/>
                </a:solidFill>
                <a:latin typeface="Arial"/>
                <a:cs typeface="Arial"/>
              </a:rPr>
              <a:t>Emergency</a:t>
            </a:r>
            <a:r>
              <a:rPr dirty="0" sz="1350" spc="-10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1350" spc="-20">
                <a:solidFill>
                  <a:srgbClr val="E4DFDF"/>
                </a:solidFill>
                <a:latin typeface="Arial"/>
                <a:cs typeface="Arial"/>
              </a:rPr>
              <a:t>Gaps</a:t>
            </a:r>
            <a:endParaRPr sz="1350">
              <a:latin typeface="Arial"/>
              <a:cs typeface="Arial"/>
            </a:endParaRPr>
          </a:p>
          <a:p>
            <a:pPr marL="172720" marR="204470">
              <a:lnSpc>
                <a:spcPct val="133000"/>
              </a:lnSpc>
              <a:spcBef>
                <a:spcPts val="325"/>
              </a:spcBef>
            </a:pPr>
            <a:r>
              <a:rPr dirty="0" sz="1200">
                <a:solidFill>
                  <a:srgbClr val="E4DFDF"/>
                </a:solidFill>
                <a:latin typeface="Arial"/>
                <a:cs typeface="Arial"/>
              </a:rPr>
              <a:t>Blood</a:t>
            </a:r>
            <a:r>
              <a:rPr dirty="0" sz="1200" spc="-20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E4DFDF"/>
                </a:solidFill>
                <a:latin typeface="Arial"/>
                <a:cs typeface="Arial"/>
              </a:rPr>
              <a:t>group,</a:t>
            </a:r>
            <a:r>
              <a:rPr dirty="0" sz="1200" spc="-20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E4DFDF"/>
                </a:solidFill>
                <a:latin typeface="Arial"/>
                <a:cs typeface="Arial"/>
              </a:rPr>
              <a:t>allergies, medications unavailable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8" name="object 8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649089" y="1272032"/>
            <a:ext cx="1900313" cy="1838096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4649089" y="1272032"/>
            <a:ext cx="1900555" cy="1838325"/>
          </a:xfrm>
          <a:prstGeom prst="rect">
            <a:avLst/>
          </a:prstGeom>
        </p:spPr>
        <p:txBody>
          <a:bodyPr wrap="square" lIns="0" tIns="116839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919"/>
              </a:spcBef>
            </a:pPr>
            <a:r>
              <a:rPr dirty="0" sz="1450" spc="-50">
                <a:latin typeface="Arial"/>
                <a:cs typeface="Arial"/>
              </a:rPr>
              <a:t>3</a:t>
            </a:r>
            <a:endParaRPr sz="1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34"/>
              </a:spcBef>
            </a:pPr>
            <a:endParaRPr sz="1450">
              <a:latin typeface="Arial"/>
              <a:cs typeface="Arial"/>
            </a:endParaRPr>
          </a:p>
          <a:p>
            <a:pPr marL="172720" marR="453390">
              <a:lnSpc>
                <a:spcPct val="104000"/>
              </a:lnSpc>
              <a:spcBef>
                <a:spcPts val="5"/>
              </a:spcBef>
            </a:pPr>
            <a:r>
              <a:rPr dirty="0" sz="1350" spc="-10">
                <a:solidFill>
                  <a:srgbClr val="E4DFDF"/>
                </a:solidFill>
                <a:latin typeface="Arial"/>
                <a:cs typeface="Arial"/>
              </a:rPr>
              <a:t>Medication Mismanagement</a:t>
            </a:r>
            <a:endParaRPr sz="1350">
              <a:latin typeface="Arial"/>
              <a:cs typeface="Arial"/>
            </a:endParaRPr>
          </a:p>
          <a:p>
            <a:pPr marL="172720" marR="389255">
              <a:lnSpc>
                <a:spcPct val="133000"/>
              </a:lnSpc>
              <a:spcBef>
                <a:spcPts val="325"/>
              </a:spcBef>
            </a:pPr>
            <a:r>
              <a:rPr dirty="0" sz="1200">
                <a:solidFill>
                  <a:srgbClr val="E4DFDF"/>
                </a:solidFill>
                <a:latin typeface="Arial"/>
                <a:cs typeface="Arial"/>
              </a:rPr>
              <a:t>Missed</a:t>
            </a:r>
            <a:r>
              <a:rPr dirty="0" sz="1200" spc="-25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E4DFDF"/>
                </a:solidFill>
                <a:latin typeface="Arial"/>
                <a:cs typeface="Arial"/>
              </a:rPr>
              <a:t>doses, </a:t>
            </a:r>
            <a:r>
              <a:rPr dirty="0" sz="1200">
                <a:solidFill>
                  <a:srgbClr val="E4DFDF"/>
                </a:solidFill>
                <a:latin typeface="Arial"/>
                <a:cs typeface="Arial"/>
              </a:rPr>
              <a:t>forgotten</a:t>
            </a:r>
            <a:r>
              <a:rPr dirty="0" sz="1200" spc="-40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E4DFDF"/>
                </a:solidFill>
                <a:latin typeface="Arial"/>
                <a:cs typeface="Arial"/>
              </a:rPr>
              <a:t>follow-</a:t>
            </a:r>
            <a:r>
              <a:rPr dirty="0" sz="1200" spc="-25">
                <a:solidFill>
                  <a:srgbClr val="E4DFDF"/>
                </a:solidFill>
                <a:latin typeface="Arial"/>
                <a:cs typeface="Arial"/>
              </a:rPr>
              <a:t>ups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10" name="object 10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703669" y="1272032"/>
            <a:ext cx="1900313" cy="1838096"/>
          </a:xfrm>
          <a:prstGeom prst="rect">
            <a:avLst/>
          </a:prstGeom>
        </p:spPr>
      </p:pic>
      <p:sp>
        <p:nvSpPr>
          <p:cNvPr id="11" name="object 11" descr=""/>
          <p:cNvSpPr txBox="1"/>
          <p:nvPr/>
        </p:nvSpPr>
        <p:spPr>
          <a:xfrm>
            <a:off x="6703669" y="1272032"/>
            <a:ext cx="1900555" cy="1838325"/>
          </a:xfrm>
          <a:prstGeom prst="rect">
            <a:avLst/>
          </a:prstGeom>
        </p:spPr>
        <p:txBody>
          <a:bodyPr wrap="square" lIns="0" tIns="116839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919"/>
              </a:spcBef>
            </a:pPr>
            <a:r>
              <a:rPr dirty="0" sz="1450" spc="-50">
                <a:latin typeface="Arial"/>
                <a:cs typeface="Arial"/>
              </a:rPr>
              <a:t>4</a:t>
            </a:r>
            <a:endParaRPr sz="1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34"/>
              </a:spcBef>
            </a:pPr>
            <a:endParaRPr sz="1450">
              <a:latin typeface="Arial"/>
              <a:cs typeface="Arial"/>
            </a:endParaRPr>
          </a:p>
          <a:p>
            <a:pPr marL="172720" marR="243204">
              <a:lnSpc>
                <a:spcPct val="104000"/>
              </a:lnSpc>
              <a:spcBef>
                <a:spcPts val="5"/>
              </a:spcBef>
            </a:pPr>
            <a:r>
              <a:rPr dirty="0" sz="1350">
                <a:solidFill>
                  <a:srgbClr val="E4DFDF"/>
                </a:solidFill>
                <a:latin typeface="Arial"/>
                <a:cs typeface="Arial"/>
              </a:rPr>
              <a:t>Fragmented</a:t>
            </a:r>
            <a:r>
              <a:rPr dirty="0" sz="1350" spc="-45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1350" spc="-10">
                <a:solidFill>
                  <a:srgbClr val="E4DFDF"/>
                </a:solidFill>
                <a:latin typeface="Arial"/>
                <a:cs typeface="Arial"/>
              </a:rPr>
              <a:t>Family </a:t>
            </a:r>
            <a:r>
              <a:rPr dirty="0" sz="1350" spc="-20">
                <a:solidFill>
                  <a:srgbClr val="E4DFDF"/>
                </a:solidFill>
                <a:latin typeface="Arial"/>
                <a:cs typeface="Arial"/>
              </a:rPr>
              <a:t>Care</a:t>
            </a:r>
            <a:endParaRPr sz="1350">
              <a:latin typeface="Arial"/>
              <a:cs typeface="Arial"/>
            </a:endParaRPr>
          </a:p>
          <a:p>
            <a:pPr marL="172720" marR="329565">
              <a:lnSpc>
                <a:spcPct val="133000"/>
              </a:lnSpc>
              <a:spcBef>
                <a:spcPts val="325"/>
              </a:spcBef>
            </a:pPr>
            <a:r>
              <a:rPr dirty="0" sz="1200">
                <a:solidFill>
                  <a:srgbClr val="E4DFDF"/>
                </a:solidFill>
                <a:latin typeface="Arial"/>
                <a:cs typeface="Arial"/>
              </a:rPr>
              <a:t>Records </a:t>
            </a:r>
            <a:r>
              <a:rPr dirty="0" sz="1200" spc="-10">
                <a:solidFill>
                  <a:srgbClr val="E4DFDF"/>
                </a:solidFill>
                <a:latin typeface="Arial"/>
                <a:cs typeface="Arial"/>
              </a:rPr>
              <a:t>spread </a:t>
            </a:r>
            <a:r>
              <a:rPr dirty="0" sz="1200">
                <a:solidFill>
                  <a:srgbClr val="E4DFDF"/>
                </a:solidFill>
                <a:latin typeface="Arial"/>
                <a:cs typeface="Arial"/>
              </a:rPr>
              <a:t>across hospitals </a:t>
            </a:r>
            <a:r>
              <a:rPr dirty="0" sz="1200" spc="-25">
                <a:solidFill>
                  <a:srgbClr val="E4DFDF"/>
                </a:solidFill>
                <a:latin typeface="Arial"/>
                <a:cs typeface="Arial"/>
              </a:rPr>
              <a:t>and </a:t>
            </a:r>
            <a:r>
              <a:rPr dirty="0" sz="1200" spc="-10">
                <a:solidFill>
                  <a:srgbClr val="E4DFDF"/>
                </a:solidFill>
                <a:latin typeface="Arial"/>
                <a:cs typeface="Arial"/>
              </a:rPr>
              <a:t>homes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12" name="object 12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40023" y="3264395"/>
            <a:ext cx="3954805" cy="1344295"/>
          </a:xfrm>
          <a:prstGeom prst="rect">
            <a:avLst/>
          </a:prstGeom>
        </p:spPr>
      </p:pic>
      <p:sp>
        <p:nvSpPr>
          <p:cNvPr id="13" name="object 13" descr=""/>
          <p:cNvSpPr txBox="1"/>
          <p:nvPr/>
        </p:nvSpPr>
        <p:spPr>
          <a:xfrm>
            <a:off x="540023" y="3264395"/>
            <a:ext cx="3955415" cy="1344295"/>
          </a:xfrm>
          <a:prstGeom prst="rect">
            <a:avLst/>
          </a:prstGeom>
        </p:spPr>
        <p:txBody>
          <a:bodyPr wrap="square" lIns="0" tIns="116839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919"/>
              </a:spcBef>
            </a:pPr>
            <a:r>
              <a:rPr dirty="0" sz="1450" spc="-50">
                <a:latin typeface="Arial"/>
                <a:cs typeface="Arial"/>
              </a:rPr>
              <a:t>5</a:t>
            </a:r>
            <a:endParaRPr sz="1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0"/>
              </a:spcBef>
            </a:pPr>
            <a:endParaRPr sz="1450">
              <a:latin typeface="Arial"/>
              <a:cs typeface="Arial"/>
            </a:endParaRPr>
          </a:p>
          <a:p>
            <a:pPr marL="172720">
              <a:lnSpc>
                <a:spcPct val="100000"/>
              </a:lnSpc>
            </a:pPr>
            <a:r>
              <a:rPr dirty="0" sz="1350">
                <a:solidFill>
                  <a:srgbClr val="E4DFDF"/>
                </a:solidFill>
                <a:latin typeface="Arial"/>
                <a:cs typeface="Arial"/>
              </a:rPr>
              <a:t>Report</a:t>
            </a:r>
            <a:r>
              <a:rPr dirty="0" sz="1350" spc="-25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1350" spc="-10">
                <a:solidFill>
                  <a:srgbClr val="E4DFDF"/>
                </a:solidFill>
                <a:latin typeface="Arial"/>
                <a:cs typeface="Arial"/>
              </a:rPr>
              <a:t>Confusion</a:t>
            </a:r>
            <a:endParaRPr sz="1350">
              <a:latin typeface="Arial"/>
              <a:cs typeface="Arial"/>
            </a:endParaRPr>
          </a:p>
          <a:p>
            <a:pPr marL="172720">
              <a:lnSpc>
                <a:spcPct val="100000"/>
              </a:lnSpc>
              <a:spcBef>
                <a:spcPts val="800"/>
              </a:spcBef>
            </a:pPr>
            <a:r>
              <a:rPr dirty="0" sz="1200">
                <a:solidFill>
                  <a:srgbClr val="E4DFDF"/>
                </a:solidFill>
                <a:latin typeface="Arial"/>
                <a:cs typeface="Arial"/>
              </a:rPr>
              <a:t>Patients</a:t>
            </a:r>
            <a:r>
              <a:rPr dirty="0" sz="1200" spc="-20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E4DFDF"/>
                </a:solidFill>
                <a:latin typeface="Arial"/>
                <a:cs typeface="Arial"/>
              </a:rPr>
              <a:t>can't</a:t>
            </a:r>
            <a:r>
              <a:rPr dirty="0" sz="1200" spc="-20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E4DFDF"/>
                </a:solidFill>
                <a:latin typeface="Arial"/>
                <a:cs typeface="Arial"/>
              </a:rPr>
              <a:t>interpret</a:t>
            </a:r>
            <a:r>
              <a:rPr dirty="0" sz="1200" spc="-15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E4DFDF"/>
                </a:solidFill>
                <a:latin typeface="Arial"/>
                <a:cs typeface="Arial"/>
              </a:rPr>
              <a:t>lab</a:t>
            </a:r>
            <a:r>
              <a:rPr dirty="0" sz="1200" spc="-20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E4DFDF"/>
                </a:solidFill>
                <a:latin typeface="Arial"/>
                <a:cs typeface="Arial"/>
              </a:rPr>
              <a:t>results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14" name="object 14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649089" y="3264395"/>
            <a:ext cx="3954881" cy="1344295"/>
          </a:xfrm>
          <a:prstGeom prst="rect">
            <a:avLst/>
          </a:prstGeom>
        </p:spPr>
      </p:pic>
      <p:sp>
        <p:nvSpPr>
          <p:cNvPr id="15" name="object 15" descr=""/>
          <p:cNvSpPr txBox="1"/>
          <p:nvPr/>
        </p:nvSpPr>
        <p:spPr>
          <a:xfrm>
            <a:off x="4649089" y="3264395"/>
            <a:ext cx="3955415" cy="1344295"/>
          </a:xfrm>
          <a:prstGeom prst="rect">
            <a:avLst/>
          </a:prstGeom>
        </p:spPr>
        <p:txBody>
          <a:bodyPr wrap="square" lIns="0" tIns="116839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919"/>
              </a:spcBef>
            </a:pPr>
            <a:r>
              <a:rPr dirty="0" sz="1450" spc="-50">
                <a:latin typeface="Arial"/>
                <a:cs typeface="Arial"/>
              </a:rPr>
              <a:t>6</a:t>
            </a:r>
            <a:endParaRPr sz="1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0"/>
              </a:spcBef>
            </a:pPr>
            <a:endParaRPr sz="1450">
              <a:latin typeface="Arial"/>
              <a:cs typeface="Arial"/>
            </a:endParaRPr>
          </a:p>
          <a:p>
            <a:pPr marL="172720">
              <a:lnSpc>
                <a:spcPct val="100000"/>
              </a:lnSpc>
            </a:pPr>
            <a:r>
              <a:rPr dirty="0" sz="1350">
                <a:solidFill>
                  <a:srgbClr val="E4DFDF"/>
                </a:solidFill>
                <a:latin typeface="Arial"/>
                <a:cs typeface="Arial"/>
              </a:rPr>
              <a:t>Repeated</a:t>
            </a:r>
            <a:r>
              <a:rPr dirty="0" sz="1350" spc="-40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1350" spc="-20">
                <a:solidFill>
                  <a:srgbClr val="E4DFDF"/>
                </a:solidFill>
                <a:latin typeface="Arial"/>
                <a:cs typeface="Arial"/>
              </a:rPr>
              <a:t>Tests</a:t>
            </a:r>
            <a:endParaRPr sz="1350">
              <a:latin typeface="Arial"/>
              <a:cs typeface="Arial"/>
            </a:endParaRPr>
          </a:p>
          <a:p>
            <a:pPr marL="172720">
              <a:lnSpc>
                <a:spcPct val="100000"/>
              </a:lnSpc>
              <a:spcBef>
                <a:spcPts val="800"/>
              </a:spcBef>
            </a:pPr>
            <a:r>
              <a:rPr dirty="0" sz="1200">
                <a:solidFill>
                  <a:srgbClr val="E4DFDF"/>
                </a:solidFill>
                <a:latin typeface="Arial"/>
                <a:cs typeface="Arial"/>
              </a:rPr>
              <a:t>No</a:t>
            </a:r>
            <a:r>
              <a:rPr dirty="0" sz="1200" spc="-20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E4DFDF"/>
                </a:solidFill>
                <a:latin typeface="Arial"/>
                <a:cs typeface="Arial"/>
              </a:rPr>
              <a:t>shared</a:t>
            </a:r>
            <a:r>
              <a:rPr dirty="0" sz="1200" spc="-20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E4DFDF"/>
                </a:solidFill>
                <a:latin typeface="Arial"/>
                <a:cs typeface="Arial"/>
              </a:rPr>
              <a:t>platform</a:t>
            </a:r>
            <a:r>
              <a:rPr dirty="0" sz="1200" spc="-20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E4DFDF"/>
                </a:solidFill>
                <a:latin typeface="Arial"/>
                <a:cs typeface="Arial"/>
              </a:rPr>
              <a:t>—</a:t>
            </a:r>
            <a:r>
              <a:rPr dirty="0" sz="1200" spc="-15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E4DFDF"/>
                </a:solidFill>
                <a:latin typeface="Arial"/>
                <a:cs typeface="Arial"/>
              </a:rPr>
              <a:t>rising</a:t>
            </a:r>
            <a:r>
              <a:rPr dirty="0" sz="1200" spc="-20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E4DFDF"/>
                </a:solidFill>
                <a:latin typeface="Arial"/>
                <a:cs typeface="Arial"/>
              </a:rPr>
              <a:t>costs,</a:t>
            </a:r>
            <a:r>
              <a:rPr dirty="0" sz="1200" spc="-20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E4DFDF"/>
                </a:solidFill>
                <a:latin typeface="Arial"/>
                <a:cs typeface="Arial"/>
              </a:rPr>
              <a:t>delays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object 3" descr=""/>
          <p:cNvSpPr/>
          <p:nvPr/>
        </p:nvSpPr>
        <p:spPr>
          <a:xfrm>
            <a:off x="3969016" y="1695450"/>
            <a:ext cx="746760" cy="290195"/>
          </a:xfrm>
          <a:custGeom>
            <a:avLst/>
            <a:gdLst/>
            <a:ahLst/>
            <a:cxnLst/>
            <a:rect l="l" t="t" r="r" b="b"/>
            <a:pathLst>
              <a:path w="746760" h="290194">
                <a:moveTo>
                  <a:pt x="694452" y="0"/>
                </a:moveTo>
                <a:lnTo>
                  <a:pt x="51846" y="0"/>
                </a:lnTo>
                <a:lnTo>
                  <a:pt x="31746" y="4101"/>
                </a:lnTo>
                <a:lnTo>
                  <a:pt x="15257" y="15257"/>
                </a:lnTo>
                <a:lnTo>
                  <a:pt x="4101" y="31745"/>
                </a:lnTo>
                <a:lnTo>
                  <a:pt x="0" y="51841"/>
                </a:lnTo>
                <a:lnTo>
                  <a:pt x="0" y="238213"/>
                </a:lnTo>
                <a:lnTo>
                  <a:pt x="4101" y="258317"/>
                </a:lnTo>
                <a:lnTo>
                  <a:pt x="15257" y="274808"/>
                </a:lnTo>
                <a:lnTo>
                  <a:pt x="31746" y="285966"/>
                </a:lnTo>
                <a:lnTo>
                  <a:pt x="51846" y="290067"/>
                </a:lnTo>
                <a:lnTo>
                  <a:pt x="694452" y="290067"/>
                </a:lnTo>
                <a:lnTo>
                  <a:pt x="714552" y="285966"/>
                </a:lnTo>
                <a:lnTo>
                  <a:pt x="731041" y="274808"/>
                </a:lnTo>
                <a:lnTo>
                  <a:pt x="742197" y="258317"/>
                </a:lnTo>
                <a:lnTo>
                  <a:pt x="746298" y="238213"/>
                </a:lnTo>
                <a:lnTo>
                  <a:pt x="746298" y="51841"/>
                </a:lnTo>
                <a:lnTo>
                  <a:pt x="742197" y="31745"/>
                </a:lnTo>
                <a:lnTo>
                  <a:pt x="731041" y="15257"/>
                </a:lnTo>
                <a:lnTo>
                  <a:pt x="714552" y="4101"/>
                </a:lnTo>
                <a:lnTo>
                  <a:pt x="694452" y="0"/>
                </a:lnTo>
                <a:close/>
              </a:path>
            </a:pathLst>
          </a:custGeom>
          <a:solidFill>
            <a:srgbClr val="47040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4048899" y="1726488"/>
            <a:ext cx="641985" cy="1701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50" spc="-10">
                <a:solidFill>
                  <a:srgbClr val="E4DFDF"/>
                </a:solidFill>
                <a:latin typeface="Arial"/>
                <a:cs typeface="Arial"/>
              </a:rPr>
              <a:t>SOLUTION</a:t>
            </a:r>
            <a:endParaRPr sz="95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AI-</a:t>
            </a:r>
            <a:r>
              <a:rPr dirty="0"/>
              <a:t>Powered</a:t>
            </a:r>
            <a:r>
              <a:rPr dirty="0" spc="-15"/>
              <a:t> </a:t>
            </a:r>
            <a:r>
              <a:rPr dirty="0"/>
              <a:t>Report</a:t>
            </a:r>
            <a:r>
              <a:rPr dirty="0" spc="-10"/>
              <a:t> Analysis</a:t>
            </a:r>
          </a:p>
        </p:txBody>
      </p:sp>
      <p:sp>
        <p:nvSpPr>
          <p:cNvPr id="6" name="object 6" descr=""/>
          <p:cNvSpPr txBox="1"/>
          <p:nvPr/>
        </p:nvSpPr>
        <p:spPr>
          <a:xfrm>
            <a:off x="3956316" y="2630982"/>
            <a:ext cx="4175125" cy="7556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33000"/>
              </a:lnSpc>
              <a:spcBef>
                <a:spcPts val="100"/>
              </a:spcBef>
            </a:pPr>
            <a:r>
              <a:rPr dirty="0" sz="1200">
                <a:solidFill>
                  <a:srgbClr val="E4DFDF"/>
                </a:solidFill>
                <a:latin typeface="Arial"/>
                <a:cs typeface="Arial"/>
              </a:rPr>
              <a:t>Complex</a:t>
            </a:r>
            <a:r>
              <a:rPr dirty="0" sz="1200" spc="-20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E4DFDF"/>
                </a:solidFill>
                <a:latin typeface="Arial"/>
                <a:cs typeface="Arial"/>
              </a:rPr>
              <a:t>medical</a:t>
            </a:r>
            <a:r>
              <a:rPr dirty="0" sz="1200" spc="-20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E4DFDF"/>
                </a:solidFill>
                <a:latin typeface="Arial"/>
                <a:cs typeface="Arial"/>
              </a:rPr>
              <a:t>reports</a:t>
            </a:r>
            <a:r>
              <a:rPr dirty="0" sz="1200" spc="-20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E4DFDF"/>
                </a:solidFill>
                <a:latin typeface="Arial"/>
                <a:cs typeface="Arial"/>
              </a:rPr>
              <a:t>translated</a:t>
            </a:r>
            <a:r>
              <a:rPr dirty="0" sz="1200" spc="-20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E4DFDF"/>
                </a:solidFill>
                <a:latin typeface="Arial"/>
                <a:cs typeface="Arial"/>
              </a:rPr>
              <a:t>into</a:t>
            </a:r>
            <a:r>
              <a:rPr dirty="0" sz="1200" spc="-20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E4DFDF"/>
                </a:solidFill>
                <a:latin typeface="Arial"/>
                <a:cs typeface="Arial"/>
              </a:rPr>
              <a:t>clear,</a:t>
            </a:r>
            <a:r>
              <a:rPr dirty="0" sz="1200" spc="-15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E4DFDF"/>
                </a:solidFill>
                <a:latin typeface="Arial"/>
                <a:cs typeface="Arial"/>
              </a:rPr>
              <a:t>patient-</a:t>
            </a:r>
            <a:r>
              <a:rPr dirty="0" sz="1200" spc="-10">
                <a:solidFill>
                  <a:srgbClr val="E4DFDF"/>
                </a:solidFill>
                <a:latin typeface="Arial"/>
                <a:cs typeface="Arial"/>
              </a:rPr>
              <a:t>friendly </a:t>
            </a:r>
            <a:r>
              <a:rPr dirty="0" sz="1200">
                <a:solidFill>
                  <a:srgbClr val="E4DFDF"/>
                </a:solidFill>
                <a:latin typeface="Arial"/>
                <a:cs typeface="Arial"/>
              </a:rPr>
              <a:t>insights</a:t>
            </a:r>
            <a:r>
              <a:rPr dirty="0" sz="1200" spc="-15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E4DFDF"/>
                </a:solidFill>
                <a:latin typeface="Arial"/>
                <a:cs typeface="Arial"/>
              </a:rPr>
              <a:t>—</a:t>
            </a:r>
            <a:r>
              <a:rPr dirty="0" sz="1200" spc="-10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E4DFDF"/>
                </a:solidFill>
                <a:latin typeface="Arial"/>
                <a:cs typeface="Arial"/>
              </a:rPr>
              <a:t>identifying</a:t>
            </a:r>
            <a:r>
              <a:rPr dirty="0" sz="1200" spc="-10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E4DFDF"/>
                </a:solidFill>
                <a:latin typeface="Arial"/>
                <a:cs typeface="Arial"/>
              </a:rPr>
              <a:t>whether</a:t>
            </a:r>
            <a:r>
              <a:rPr dirty="0" sz="1200" spc="-10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E4DFDF"/>
                </a:solidFill>
                <a:latin typeface="Arial"/>
                <a:cs typeface="Arial"/>
              </a:rPr>
              <a:t>key</a:t>
            </a:r>
            <a:r>
              <a:rPr dirty="0" sz="1200" spc="-10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E4DFDF"/>
                </a:solidFill>
                <a:latin typeface="Arial"/>
                <a:cs typeface="Arial"/>
              </a:rPr>
              <a:t>indicators</a:t>
            </a:r>
            <a:r>
              <a:rPr dirty="0" sz="1200" spc="-10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E4DFDF"/>
                </a:solidFill>
                <a:latin typeface="Arial"/>
                <a:cs typeface="Arial"/>
              </a:rPr>
              <a:t>like</a:t>
            </a:r>
            <a:r>
              <a:rPr dirty="0" sz="1200" spc="-10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E4DFDF"/>
                </a:solidFill>
                <a:latin typeface="Arial"/>
                <a:cs typeface="Arial"/>
              </a:rPr>
              <a:t>blood</a:t>
            </a:r>
            <a:r>
              <a:rPr dirty="0" sz="1200" spc="-10">
                <a:solidFill>
                  <a:srgbClr val="E4DFDF"/>
                </a:solidFill>
                <a:latin typeface="Arial"/>
                <a:cs typeface="Arial"/>
              </a:rPr>
              <a:t> sugar, </a:t>
            </a:r>
            <a:r>
              <a:rPr dirty="0" sz="1200">
                <a:solidFill>
                  <a:srgbClr val="E4DFDF"/>
                </a:solidFill>
                <a:latin typeface="Arial"/>
                <a:cs typeface="Arial"/>
              </a:rPr>
              <a:t>cholesterol,</a:t>
            </a:r>
            <a:r>
              <a:rPr dirty="0" sz="1200" spc="-25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E4DFDF"/>
                </a:solidFill>
                <a:latin typeface="Arial"/>
                <a:cs typeface="Arial"/>
              </a:rPr>
              <a:t>and</a:t>
            </a:r>
            <a:r>
              <a:rPr dirty="0" sz="1200" spc="-25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E4DFDF"/>
                </a:solidFill>
                <a:latin typeface="Arial"/>
                <a:cs typeface="Arial"/>
              </a:rPr>
              <a:t>kidney</a:t>
            </a:r>
            <a:r>
              <a:rPr dirty="0" sz="1200" spc="-20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E4DFDF"/>
                </a:solidFill>
                <a:latin typeface="Arial"/>
                <a:cs typeface="Arial"/>
              </a:rPr>
              <a:t>function</a:t>
            </a:r>
            <a:r>
              <a:rPr dirty="0" sz="1200" spc="-25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E4DFDF"/>
                </a:solidFill>
                <a:latin typeface="Arial"/>
                <a:cs typeface="Arial"/>
              </a:rPr>
              <a:t>are</a:t>
            </a:r>
            <a:r>
              <a:rPr dirty="0" sz="1200" spc="-20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E4DFDF"/>
                </a:solidFill>
                <a:latin typeface="Arial"/>
                <a:cs typeface="Arial"/>
              </a:rPr>
              <a:t>within</a:t>
            </a:r>
            <a:r>
              <a:rPr dirty="0" sz="1200" spc="-25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E4DFDF"/>
                </a:solidFill>
                <a:latin typeface="Arial"/>
                <a:cs typeface="Arial"/>
              </a:rPr>
              <a:t>normal</a:t>
            </a:r>
            <a:r>
              <a:rPr dirty="0" sz="1200" spc="-20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E4DFDF"/>
                </a:solidFill>
                <a:latin typeface="Arial"/>
                <a:cs typeface="Arial"/>
              </a:rPr>
              <a:t>range.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29181" y="4844491"/>
            <a:ext cx="1071843" cy="25603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27323" y="880533"/>
            <a:ext cx="4407535" cy="4368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Centralized</a:t>
            </a:r>
            <a:r>
              <a:rPr dirty="0" spc="-40"/>
              <a:t> </a:t>
            </a:r>
            <a:r>
              <a:rPr dirty="0"/>
              <a:t>Medical</a:t>
            </a:r>
            <a:r>
              <a:rPr dirty="0" spc="-35"/>
              <a:t> </a:t>
            </a:r>
            <a:r>
              <a:rPr dirty="0" spc="-10"/>
              <a:t>Records</a:t>
            </a:r>
          </a:p>
        </p:txBody>
      </p:sp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40023" y="1637703"/>
            <a:ext cx="1871294" cy="1156538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527323" y="2817933"/>
            <a:ext cx="1889125" cy="1359535"/>
          </a:xfrm>
          <a:prstGeom prst="rect">
            <a:avLst/>
          </a:prstGeom>
        </p:spPr>
        <p:txBody>
          <a:bodyPr wrap="square" lIns="0" tIns="1270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0"/>
              </a:spcBef>
            </a:pPr>
            <a:r>
              <a:rPr dirty="0" sz="1350">
                <a:solidFill>
                  <a:srgbClr val="E4DFDF"/>
                </a:solidFill>
                <a:latin typeface="Arial"/>
                <a:cs typeface="Arial"/>
              </a:rPr>
              <a:t>Secure</a:t>
            </a:r>
            <a:r>
              <a:rPr dirty="0" sz="1350" spc="-20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1350" spc="-10">
                <a:solidFill>
                  <a:srgbClr val="E4DFDF"/>
                </a:solidFill>
                <a:latin typeface="Arial"/>
                <a:cs typeface="Arial"/>
              </a:rPr>
              <a:t>Upload</a:t>
            </a:r>
            <a:endParaRPr sz="1350">
              <a:latin typeface="Arial"/>
              <a:cs typeface="Arial"/>
            </a:endParaRPr>
          </a:p>
          <a:p>
            <a:pPr marL="12700" marR="5080">
              <a:lnSpc>
                <a:spcPct val="133000"/>
              </a:lnSpc>
              <a:spcBef>
                <a:spcPts val="320"/>
              </a:spcBef>
            </a:pPr>
            <a:r>
              <a:rPr dirty="0" sz="1200">
                <a:solidFill>
                  <a:srgbClr val="E4DFDF"/>
                </a:solidFill>
                <a:latin typeface="Arial"/>
                <a:cs typeface="Arial"/>
              </a:rPr>
              <a:t>Prescriptions,</a:t>
            </a:r>
            <a:r>
              <a:rPr dirty="0" sz="1200" spc="-35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E4DFDF"/>
                </a:solidFill>
                <a:latin typeface="Arial"/>
                <a:cs typeface="Arial"/>
              </a:rPr>
              <a:t>lab</a:t>
            </a:r>
            <a:r>
              <a:rPr dirty="0" sz="1200" spc="-35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E4DFDF"/>
                </a:solidFill>
                <a:latin typeface="Arial"/>
                <a:cs typeface="Arial"/>
              </a:rPr>
              <a:t>reports, X-</a:t>
            </a:r>
            <a:r>
              <a:rPr dirty="0" sz="1200">
                <a:solidFill>
                  <a:srgbClr val="E4DFDF"/>
                </a:solidFill>
                <a:latin typeface="Arial"/>
                <a:cs typeface="Arial"/>
              </a:rPr>
              <a:t>rays,</a:t>
            </a:r>
            <a:r>
              <a:rPr dirty="0" sz="1200" spc="-40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E4DFDF"/>
                </a:solidFill>
                <a:latin typeface="Arial"/>
                <a:cs typeface="Arial"/>
              </a:rPr>
              <a:t>MRI/CT</a:t>
            </a:r>
            <a:r>
              <a:rPr dirty="0" sz="1200" spc="-35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E4DFDF"/>
                </a:solidFill>
                <a:latin typeface="Arial"/>
                <a:cs typeface="Arial"/>
              </a:rPr>
              <a:t>scans, </a:t>
            </a:r>
            <a:r>
              <a:rPr dirty="0" sz="1200">
                <a:solidFill>
                  <a:srgbClr val="E4DFDF"/>
                </a:solidFill>
                <a:latin typeface="Arial"/>
                <a:cs typeface="Arial"/>
              </a:rPr>
              <a:t>vaccination</a:t>
            </a:r>
            <a:r>
              <a:rPr dirty="0" sz="1200" spc="-15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E4DFDF"/>
                </a:solidFill>
                <a:latin typeface="Arial"/>
                <a:cs typeface="Arial"/>
              </a:rPr>
              <a:t>records</a:t>
            </a:r>
            <a:r>
              <a:rPr dirty="0" sz="1200" spc="-10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E4DFDF"/>
                </a:solidFill>
                <a:latin typeface="Arial"/>
                <a:cs typeface="Arial"/>
              </a:rPr>
              <a:t>—</a:t>
            </a:r>
            <a:r>
              <a:rPr dirty="0" sz="1200" spc="-15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E4DFDF"/>
                </a:solidFill>
                <a:latin typeface="Arial"/>
                <a:cs typeface="Arial"/>
              </a:rPr>
              <a:t>all</a:t>
            </a:r>
            <a:r>
              <a:rPr dirty="0" sz="1200" spc="-10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1200" spc="-25">
                <a:solidFill>
                  <a:srgbClr val="E4DFDF"/>
                </a:solidFill>
                <a:latin typeface="Arial"/>
                <a:cs typeface="Arial"/>
              </a:rPr>
              <a:t>in </a:t>
            </a:r>
            <a:r>
              <a:rPr dirty="0" sz="1200">
                <a:solidFill>
                  <a:srgbClr val="E4DFDF"/>
                </a:solidFill>
                <a:latin typeface="Arial"/>
                <a:cs typeface="Arial"/>
              </a:rPr>
              <a:t>one</a:t>
            </a:r>
            <a:r>
              <a:rPr dirty="0" sz="1200" spc="-10">
                <a:solidFill>
                  <a:srgbClr val="E4DFDF"/>
                </a:solidFill>
                <a:latin typeface="Arial"/>
                <a:cs typeface="Arial"/>
              </a:rPr>
              <a:t> place.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6" name="object 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604198" y="1637703"/>
            <a:ext cx="1871370" cy="1156538"/>
          </a:xfrm>
          <a:prstGeom prst="rect">
            <a:avLst/>
          </a:prstGeom>
        </p:spPr>
      </p:pic>
      <p:sp>
        <p:nvSpPr>
          <p:cNvPr id="7" name="object 7" descr=""/>
          <p:cNvSpPr txBox="1"/>
          <p:nvPr/>
        </p:nvSpPr>
        <p:spPr>
          <a:xfrm>
            <a:off x="2591498" y="2817933"/>
            <a:ext cx="1880870" cy="1359535"/>
          </a:xfrm>
          <a:prstGeom prst="rect">
            <a:avLst/>
          </a:prstGeom>
        </p:spPr>
        <p:txBody>
          <a:bodyPr wrap="square" lIns="0" tIns="1270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0"/>
              </a:spcBef>
            </a:pPr>
            <a:r>
              <a:rPr dirty="0" sz="1350">
                <a:solidFill>
                  <a:srgbClr val="E4DFDF"/>
                </a:solidFill>
                <a:latin typeface="Arial"/>
                <a:cs typeface="Arial"/>
              </a:rPr>
              <a:t>OCR</a:t>
            </a:r>
            <a:r>
              <a:rPr dirty="0" sz="1350" spc="-30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1350" spc="-10">
                <a:solidFill>
                  <a:srgbClr val="E4DFDF"/>
                </a:solidFill>
                <a:latin typeface="Arial"/>
                <a:cs typeface="Arial"/>
              </a:rPr>
              <a:t>Scanning</a:t>
            </a:r>
            <a:endParaRPr sz="1350">
              <a:latin typeface="Arial"/>
              <a:cs typeface="Arial"/>
            </a:endParaRPr>
          </a:p>
          <a:p>
            <a:pPr marL="12700" marR="5080">
              <a:lnSpc>
                <a:spcPct val="133000"/>
              </a:lnSpc>
              <a:spcBef>
                <a:spcPts val="320"/>
              </a:spcBef>
            </a:pPr>
            <a:r>
              <a:rPr dirty="0" sz="1200">
                <a:solidFill>
                  <a:srgbClr val="E4DFDF"/>
                </a:solidFill>
                <a:latin typeface="Arial"/>
                <a:cs typeface="Arial"/>
              </a:rPr>
              <a:t>Snap</a:t>
            </a:r>
            <a:r>
              <a:rPr dirty="0" sz="1200" spc="-10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E4DFDF"/>
                </a:solidFill>
                <a:latin typeface="Arial"/>
                <a:cs typeface="Arial"/>
              </a:rPr>
              <a:t>a</a:t>
            </a:r>
            <a:r>
              <a:rPr dirty="0" sz="1200" spc="-5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E4DFDF"/>
                </a:solidFill>
                <a:latin typeface="Arial"/>
                <a:cs typeface="Arial"/>
              </a:rPr>
              <a:t>photo</a:t>
            </a:r>
            <a:r>
              <a:rPr dirty="0" sz="1200" spc="-10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E4DFDF"/>
                </a:solidFill>
                <a:latin typeface="Arial"/>
                <a:cs typeface="Arial"/>
              </a:rPr>
              <a:t>—</a:t>
            </a:r>
            <a:r>
              <a:rPr dirty="0" sz="1200" spc="-5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E4DFDF"/>
                </a:solidFill>
                <a:latin typeface="Arial"/>
                <a:cs typeface="Arial"/>
              </a:rPr>
              <a:t>Optical </a:t>
            </a:r>
            <a:r>
              <a:rPr dirty="0" sz="1200">
                <a:solidFill>
                  <a:srgbClr val="E4DFDF"/>
                </a:solidFill>
                <a:latin typeface="Arial"/>
                <a:cs typeface="Arial"/>
              </a:rPr>
              <a:t>Character </a:t>
            </a:r>
            <a:r>
              <a:rPr dirty="0" sz="1200" spc="-10">
                <a:solidFill>
                  <a:srgbClr val="E4DFDF"/>
                </a:solidFill>
                <a:latin typeface="Arial"/>
                <a:cs typeface="Arial"/>
              </a:rPr>
              <a:t>Recognition </a:t>
            </a:r>
            <a:r>
              <a:rPr dirty="0" sz="1200">
                <a:solidFill>
                  <a:srgbClr val="E4DFDF"/>
                </a:solidFill>
                <a:latin typeface="Arial"/>
                <a:cs typeface="Arial"/>
              </a:rPr>
              <a:t>extracts</a:t>
            </a:r>
            <a:r>
              <a:rPr dirty="0" sz="1200" spc="-5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E4DFDF"/>
                </a:solidFill>
                <a:latin typeface="Arial"/>
                <a:cs typeface="Arial"/>
              </a:rPr>
              <a:t>and stores</a:t>
            </a:r>
            <a:r>
              <a:rPr dirty="0" sz="1200" spc="-5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E4DFDF"/>
                </a:solidFill>
                <a:latin typeface="Arial"/>
                <a:cs typeface="Arial"/>
              </a:rPr>
              <a:t>key </a:t>
            </a:r>
            <a:r>
              <a:rPr dirty="0" sz="1200" spc="-20">
                <a:solidFill>
                  <a:srgbClr val="E4DFDF"/>
                </a:solidFill>
                <a:latin typeface="Arial"/>
                <a:cs typeface="Arial"/>
              </a:rPr>
              <a:t>info </a:t>
            </a:r>
            <a:r>
              <a:rPr dirty="0" sz="1200" spc="-10">
                <a:solidFill>
                  <a:srgbClr val="E4DFDF"/>
                </a:solidFill>
                <a:latin typeface="Arial"/>
                <a:cs typeface="Arial"/>
              </a:rPr>
              <a:t>automatically.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8" name="object 8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668443" y="1637703"/>
            <a:ext cx="1871294" cy="1156538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4655743" y="2817933"/>
            <a:ext cx="1821814" cy="1116330"/>
          </a:xfrm>
          <a:prstGeom prst="rect">
            <a:avLst/>
          </a:prstGeom>
        </p:spPr>
        <p:txBody>
          <a:bodyPr wrap="square" lIns="0" tIns="1270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0"/>
              </a:spcBef>
            </a:pPr>
            <a:r>
              <a:rPr dirty="0" sz="1350">
                <a:solidFill>
                  <a:srgbClr val="E4DFDF"/>
                </a:solidFill>
                <a:latin typeface="Arial"/>
                <a:cs typeface="Arial"/>
              </a:rPr>
              <a:t>Cloud</a:t>
            </a:r>
            <a:r>
              <a:rPr dirty="0" sz="1350" spc="-20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1350" spc="-10">
                <a:solidFill>
                  <a:srgbClr val="E4DFDF"/>
                </a:solidFill>
                <a:latin typeface="Arial"/>
                <a:cs typeface="Arial"/>
              </a:rPr>
              <a:t>Backup</a:t>
            </a:r>
            <a:endParaRPr sz="1350">
              <a:latin typeface="Arial"/>
              <a:cs typeface="Arial"/>
            </a:endParaRPr>
          </a:p>
          <a:p>
            <a:pPr marL="12700" marR="5080">
              <a:lnSpc>
                <a:spcPct val="133000"/>
              </a:lnSpc>
              <a:spcBef>
                <a:spcPts val="320"/>
              </a:spcBef>
            </a:pPr>
            <a:r>
              <a:rPr dirty="0" sz="1200">
                <a:solidFill>
                  <a:srgbClr val="E4DFDF"/>
                </a:solidFill>
                <a:latin typeface="Arial"/>
                <a:cs typeface="Arial"/>
              </a:rPr>
              <a:t>Automatic</a:t>
            </a:r>
            <a:r>
              <a:rPr dirty="0" sz="1200" spc="-15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E4DFDF"/>
                </a:solidFill>
                <a:latin typeface="Arial"/>
                <a:cs typeface="Arial"/>
              </a:rPr>
              <a:t>backup</a:t>
            </a:r>
            <a:r>
              <a:rPr dirty="0" sz="1200" spc="-10">
                <a:solidFill>
                  <a:srgbClr val="E4DFDF"/>
                </a:solidFill>
                <a:latin typeface="Arial"/>
                <a:cs typeface="Arial"/>
              </a:rPr>
              <a:t> reduces </a:t>
            </a:r>
            <a:r>
              <a:rPr dirty="0" sz="1200">
                <a:solidFill>
                  <a:srgbClr val="E4DFDF"/>
                </a:solidFill>
                <a:latin typeface="Arial"/>
                <a:cs typeface="Arial"/>
              </a:rPr>
              <a:t>risk</a:t>
            </a:r>
            <a:r>
              <a:rPr dirty="0" sz="1200" spc="-10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E4DFDF"/>
                </a:solidFill>
                <a:latin typeface="Arial"/>
                <a:cs typeface="Arial"/>
              </a:rPr>
              <a:t>of</a:t>
            </a:r>
            <a:r>
              <a:rPr dirty="0" sz="1200" spc="-10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E4DFDF"/>
                </a:solidFill>
                <a:latin typeface="Arial"/>
                <a:cs typeface="Arial"/>
              </a:rPr>
              <a:t>losing</a:t>
            </a:r>
            <a:r>
              <a:rPr dirty="0" sz="1200" spc="-10">
                <a:solidFill>
                  <a:srgbClr val="E4DFDF"/>
                </a:solidFill>
                <a:latin typeface="Arial"/>
                <a:cs typeface="Arial"/>
              </a:rPr>
              <a:t> important </a:t>
            </a:r>
            <a:r>
              <a:rPr dirty="0" sz="1200">
                <a:solidFill>
                  <a:srgbClr val="E4DFDF"/>
                </a:solidFill>
                <a:latin typeface="Arial"/>
                <a:cs typeface="Arial"/>
              </a:rPr>
              <a:t>healthcare</a:t>
            </a:r>
            <a:r>
              <a:rPr dirty="0" sz="1200" spc="-45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E4DFDF"/>
                </a:solidFill>
                <a:latin typeface="Arial"/>
                <a:cs typeface="Arial"/>
              </a:rPr>
              <a:t>documents.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10" name="object 10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732613" y="1637703"/>
            <a:ext cx="1871370" cy="1156538"/>
          </a:xfrm>
          <a:prstGeom prst="rect">
            <a:avLst/>
          </a:prstGeom>
        </p:spPr>
      </p:pic>
      <p:sp>
        <p:nvSpPr>
          <p:cNvPr id="11" name="object 11" descr=""/>
          <p:cNvSpPr txBox="1"/>
          <p:nvPr/>
        </p:nvSpPr>
        <p:spPr>
          <a:xfrm>
            <a:off x="6719913" y="2817933"/>
            <a:ext cx="1668145" cy="1359535"/>
          </a:xfrm>
          <a:prstGeom prst="rect">
            <a:avLst/>
          </a:prstGeom>
        </p:spPr>
        <p:txBody>
          <a:bodyPr wrap="square" lIns="0" tIns="1270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0"/>
              </a:spcBef>
            </a:pPr>
            <a:r>
              <a:rPr dirty="0" sz="1350">
                <a:solidFill>
                  <a:srgbClr val="E4DFDF"/>
                </a:solidFill>
                <a:latin typeface="Arial"/>
                <a:cs typeface="Arial"/>
              </a:rPr>
              <a:t>Download</a:t>
            </a:r>
            <a:r>
              <a:rPr dirty="0" sz="1350" spc="-20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E4DFDF"/>
                </a:solidFill>
                <a:latin typeface="Arial"/>
                <a:cs typeface="Arial"/>
              </a:rPr>
              <a:t>&amp;</a:t>
            </a:r>
            <a:r>
              <a:rPr dirty="0" sz="1350" spc="-15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1350" spc="-10">
                <a:solidFill>
                  <a:srgbClr val="E4DFDF"/>
                </a:solidFill>
                <a:latin typeface="Arial"/>
                <a:cs typeface="Arial"/>
              </a:rPr>
              <a:t>Share</a:t>
            </a:r>
            <a:endParaRPr sz="1350">
              <a:latin typeface="Arial"/>
              <a:cs typeface="Arial"/>
            </a:endParaRPr>
          </a:p>
          <a:p>
            <a:pPr marL="12700" marR="5080">
              <a:lnSpc>
                <a:spcPct val="133000"/>
              </a:lnSpc>
              <a:spcBef>
                <a:spcPts val="320"/>
              </a:spcBef>
            </a:pPr>
            <a:r>
              <a:rPr dirty="0" sz="1200">
                <a:solidFill>
                  <a:srgbClr val="E4DFDF"/>
                </a:solidFill>
                <a:latin typeface="Arial"/>
                <a:cs typeface="Arial"/>
              </a:rPr>
              <a:t>Print</a:t>
            </a:r>
            <a:r>
              <a:rPr dirty="0" sz="1200" spc="-15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E4DFDF"/>
                </a:solidFill>
                <a:latin typeface="Arial"/>
                <a:cs typeface="Arial"/>
              </a:rPr>
              <a:t>or</a:t>
            </a:r>
            <a:r>
              <a:rPr dirty="0" sz="1200" spc="-5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E4DFDF"/>
                </a:solidFill>
                <a:latin typeface="Arial"/>
                <a:cs typeface="Arial"/>
              </a:rPr>
              <a:t>securely</a:t>
            </a:r>
            <a:r>
              <a:rPr dirty="0" sz="1200" spc="-5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E4DFDF"/>
                </a:solidFill>
                <a:latin typeface="Arial"/>
                <a:cs typeface="Arial"/>
              </a:rPr>
              <a:t>share </a:t>
            </a:r>
            <a:r>
              <a:rPr dirty="0" sz="1200">
                <a:solidFill>
                  <a:srgbClr val="E4DFDF"/>
                </a:solidFill>
                <a:latin typeface="Arial"/>
                <a:cs typeface="Arial"/>
              </a:rPr>
              <a:t>documents</a:t>
            </a:r>
            <a:r>
              <a:rPr dirty="0" sz="1200" spc="-20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E4DFDF"/>
                </a:solidFill>
                <a:latin typeface="Arial"/>
                <a:cs typeface="Arial"/>
              </a:rPr>
              <a:t>with</a:t>
            </a:r>
            <a:r>
              <a:rPr dirty="0" sz="1200" spc="-5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E4DFDF"/>
                </a:solidFill>
                <a:latin typeface="Arial"/>
                <a:cs typeface="Arial"/>
              </a:rPr>
              <a:t>doctors, </a:t>
            </a:r>
            <a:r>
              <a:rPr dirty="0" sz="1200">
                <a:solidFill>
                  <a:srgbClr val="E4DFDF"/>
                </a:solidFill>
                <a:latin typeface="Arial"/>
                <a:cs typeface="Arial"/>
              </a:rPr>
              <a:t>hospitals,</a:t>
            </a:r>
            <a:r>
              <a:rPr dirty="0" sz="1200" spc="-25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E4DFDF"/>
                </a:solidFill>
                <a:latin typeface="Arial"/>
                <a:cs typeface="Arial"/>
              </a:rPr>
              <a:t>or</a:t>
            </a:r>
            <a:r>
              <a:rPr dirty="0" sz="1200" spc="-20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E4DFDF"/>
                </a:solidFill>
                <a:latin typeface="Arial"/>
                <a:cs typeface="Arial"/>
              </a:rPr>
              <a:t>family anytime.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27323" y="412546"/>
            <a:ext cx="2223770" cy="2463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50">
                <a:solidFill>
                  <a:srgbClr val="FFFFFF"/>
                </a:solidFill>
                <a:latin typeface="Arial"/>
                <a:cs typeface="Arial"/>
              </a:rPr>
              <a:t>Smart</a:t>
            </a:r>
            <a:r>
              <a:rPr dirty="0" sz="1450" spc="-5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FFFFFF"/>
                </a:solidFill>
                <a:latin typeface="Arial"/>
                <a:cs typeface="Arial"/>
              </a:rPr>
              <a:t>Health</a:t>
            </a:r>
            <a:r>
              <a:rPr dirty="0" sz="1450" spc="-5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50" spc="-10">
                <a:solidFill>
                  <a:srgbClr val="FFFFFF"/>
                </a:solidFill>
                <a:latin typeface="Arial"/>
                <a:cs typeface="Arial"/>
              </a:rPr>
              <a:t>Management</a:t>
            </a:r>
            <a:endParaRPr sz="1450">
              <a:latin typeface="Arial"/>
              <a:cs typeface="Arial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0023" y="784621"/>
            <a:ext cx="5169471" cy="3877791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910554" y="2040064"/>
            <a:ext cx="2698102" cy="286791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910554" y="2400071"/>
            <a:ext cx="2698102" cy="286791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910554" y="2760091"/>
            <a:ext cx="2698102" cy="286791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910554" y="3120110"/>
            <a:ext cx="2698102" cy="286791"/>
          </a:xfrm>
          <a:prstGeom prst="rect">
            <a:avLst/>
          </a:prstGeom>
        </p:spPr>
      </p:pic>
      <p:graphicFrame>
        <p:nvGraphicFramePr>
          <p:cNvPr id="8" name="object 8" descr=""/>
          <p:cNvGraphicFramePr>
            <a:graphicFrameLocks noGrp="1"/>
          </p:cNvGraphicFramePr>
          <p:nvPr/>
        </p:nvGraphicFramePr>
        <p:xfrm>
          <a:off x="5910554" y="2040064"/>
          <a:ext cx="2774315" cy="13652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98115"/>
              </a:tblGrid>
              <a:tr h="323215">
                <a:tc>
                  <a:txBody>
                    <a:bodyPr/>
                    <a:lstStyle/>
                    <a:p>
                      <a:pPr marL="11239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700">
                          <a:solidFill>
                            <a:srgbClr val="E4DFDF"/>
                          </a:solidFill>
                          <a:latin typeface="Arial"/>
                          <a:cs typeface="Arial"/>
                        </a:rPr>
                        <a:t>Medicine</a:t>
                      </a:r>
                      <a:r>
                        <a:rPr dirty="0" sz="700" spc="-35">
                          <a:solidFill>
                            <a:srgbClr val="E4DFD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700" spc="-10">
                          <a:solidFill>
                            <a:srgbClr val="E4DFDF"/>
                          </a:solidFill>
                          <a:latin typeface="Arial"/>
                          <a:cs typeface="Arial"/>
                        </a:rPr>
                        <a:t>Reminders</a:t>
                      </a:r>
                      <a:endParaRPr sz="700">
                        <a:latin typeface="Arial"/>
                        <a:cs typeface="Arial"/>
                      </a:endParaRPr>
                    </a:p>
                    <a:p>
                      <a:pPr marL="112395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650">
                          <a:solidFill>
                            <a:srgbClr val="E4DFDF"/>
                          </a:solidFill>
                          <a:latin typeface="Arial"/>
                          <a:cs typeface="Arial"/>
                        </a:rPr>
                        <a:t>Timely </a:t>
                      </a:r>
                      <a:r>
                        <a:rPr dirty="0" sz="650" spc="-10">
                          <a:solidFill>
                            <a:srgbClr val="E4DFDF"/>
                          </a:solidFill>
                          <a:latin typeface="Arial"/>
                          <a:cs typeface="Arial"/>
                        </a:rPr>
                        <a:t>notifications,</a:t>
                      </a:r>
                      <a:r>
                        <a:rPr dirty="0" sz="650" spc="5">
                          <a:solidFill>
                            <a:srgbClr val="E4DFD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650" spc="-10">
                          <a:solidFill>
                            <a:srgbClr val="E4DFDF"/>
                          </a:solidFill>
                          <a:latin typeface="Arial"/>
                          <a:cs typeface="Arial"/>
                        </a:rPr>
                        <a:t>missed-</a:t>
                      </a:r>
                      <a:r>
                        <a:rPr dirty="0" sz="650">
                          <a:solidFill>
                            <a:srgbClr val="E4DFDF"/>
                          </a:solidFill>
                          <a:latin typeface="Arial"/>
                          <a:cs typeface="Arial"/>
                        </a:rPr>
                        <a:t>dose</a:t>
                      </a:r>
                      <a:r>
                        <a:rPr dirty="0" sz="650" spc="5">
                          <a:solidFill>
                            <a:srgbClr val="E4DFD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650">
                          <a:solidFill>
                            <a:srgbClr val="E4DFDF"/>
                          </a:solidFill>
                          <a:latin typeface="Arial"/>
                          <a:cs typeface="Arial"/>
                        </a:rPr>
                        <a:t>tracking,</a:t>
                      </a:r>
                      <a:r>
                        <a:rPr dirty="0" sz="650" spc="5">
                          <a:solidFill>
                            <a:srgbClr val="E4DFD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650" spc="-10">
                          <a:solidFill>
                            <a:srgbClr val="E4DFDF"/>
                          </a:solidFill>
                          <a:latin typeface="Arial"/>
                          <a:cs typeface="Arial"/>
                        </a:rPr>
                        <a:t>completion</a:t>
                      </a:r>
                      <a:r>
                        <a:rPr dirty="0" sz="650" spc="5">
                          <a:solidFill>
                            <a:srgbClr val="E4DFD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650" spc="-10">
                          <a:solidFill>
                            <a:srgbClr val="E4DFDF"/>
                          </a:solidFill>
                          <a:latin typeface="Arial"/>
                          <a:cs typeface="Arial"/>
                        </a:rPr>
                        <a:t>history</a:t>
                      </a:r>
                      <a:endParaRPr sz="650">
                        <a:latin typeface="Arial"/>
                        <a:cs typeface="Arial"/>
                      </a:endParaRPr>
                    </a:p>
                  </a:txBody>
                  <a:tcPr marL="0" marR="0" marB="0" marT="7620">
                    <a:lnB w="76200">
                      <a:solidFill>
                        <a:srgbClr val="232122"/>
                      </a:solidFill>
                      <a:prstDash val="solid"/>
                    </a:lnB>
                  </a:tcPr>
                </a:tc>
              </a:tr>
              <a:tr h="359410">
                <a:tc>
                  <a:txBody>
                    <a:bodyPr/>
                    <a:lstStyle/>
                    <a:p>
                      <a:pPr marL="112395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dirty="0" sz="700">
                          <a:solidFill>
                            <a:srgbClr val="E4DFDF"/>
                          </a:solidFill>
                          <a:latin typeface="Arial"/>
                          <a:cs typeface="Arial"/>
                        </a:rPr>
                        <a:t>Appointment</a:t>
                      </a:r>
                      <a:r>
                        <a:rPr dirty="0" sz="700" spc="-50">
                          <a:solidFill>
                            <a:srgbClr val="E4DFD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700" spc="-10">
                          <a:solidFill>
                            <a:srgbClr val="E4DFDF"/>
                          </a:solidFill>
                          <a:latin typeface="Arial"/>
                          <a:cs typeface="Arial"/>
                        </a:rPr>
                        <a:t>Alerts</a:t>
                      </a:r>
                      <a:endParaRPr sz="700">
                        <a:latin typeface="Arial"/>
                        <a:cs typeface="Arial"/>
                      </a:endParaRPr>
                    </a:p>
                    <a:p>
                      <a:pPr marL="112395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dirty="0" sz="650">
                          <a:solidFill>
                            <a:srgbClr val="E4DFDF"/>
                          </a:solidFill>
                          <a:latin typeface="Arial"/>
                          <a:cs typeface="Arial"/>
                        </a:rPr>
                        <a:t>Doctor</a:t>
                      </a:r>
                      <a:r>
                        <a:rPr dirty="0" sz="650" spc="-10">
                          <a:solidFill>
                            <a:srgbClr val="E4DFD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650">
                          <a:solidFill>
                            <a:srgbClr val="E4DFDF"/>
                          </a:solidFill>
                          <a:latin typeface="Arial"/>
                          <a:cs typeface="Arial"/>
                        </a:rPr>
                        <a:t>visits,</a:t>
                      </a:r>
                      <a:r>
                        <a:rPr dirty="0" sz="650" spc="-5">
                          <a:solidFill>
                            <a:srgbClr val="E4DFD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650" spc="-10">
                          <a:solidFill>
                            <a:srgbClr val="E4DFDF"/>
                          </a:solidFill>
                          <a:latin typeface="Arial"/>
                          <a:cs typeface="Arial"/>
                        </a:rPr>
                        <a:t>follow-</a:t>
                      </a:r>
                      <a:r>
                        <a:rPr dirty="0" sz="650">
                          <a:solidFill>
                            <a:srgbClr val="E4DFDF"/>
                          </a:solidFill>
                          <a:latin typeface="Arial"/>
                          <a:cs typeface="Arial"/>
                        </a:rPr>
                        <a:t>ups,</a:t>
                      </a:r>
                      <a:r>
                        <a:rPr dirty="0" sz="650" spc="-5">
                          <a:solidFill>
                            <a:srgbClr val="E4DFD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650" spc="-10">
                          <a:solidFill>
                            <a:srgbClr val="E4DFDF"/>
                          </a:solidFill>
                          <a:latin typeface="Arial"/>
                          <a:cs typeface="Arial"/>
                        </a:rPr>
                        <a:t>vaccinations,</a:t>
                      </a:r>
                      <a:r>
                        <a:rPr dirty="0" sz="650" spc="-5">
                          <a:solidFill>
                            <a:srgbClr val="E4DFD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650">
                          <a:solidFill>
                            <a:srgbClr val="E4DFDF"/>
                          </a:solidFill>
                          <a:latin typeface="Arial"/>
                          <a:cs typeface="Arial"/>
                        </a:rPr>
                        <a:t>lab</a:t>
                      </a:r>
                      <a:r>
                        <a:rPr dirty="0" sz="650" spc="-5">
                          <a:solidFill>
                            <a:srgbClr val="E4DFD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650" spc="-10">
                          <a:solidFill>
                            <a:srgbClr val="E4DFDF"/>
                          </a:solidFill>
                          <a:latin typeface="Arial"/>
                          <a:cs typeface="Arial"/>
                        </a:rPr>
                        <a:t>tests</a:t>
                      </a:r>
                      <a:endParaRPr sz="650">
                        <a:latin typeface="Arial"/>
                        <a:cs typeface="Arial"/>
                      </a:endParaRPr>
                    </a:p>
                  </a:txBody>
                  <a:tcPr marL="0" marR="0" marB="0" marT="43815">
                    <a:lnT w="76200">
                      <a:solidFill>
                        <a:srgbClr val="232122"/>
                      </a:solidFill>
                      <a:prstDash val="solid"/>
                    </a:lnT>
                    <a:lnB w="76200">
                      <a:solidFill>
                        <a:srgbClr val="232122"/>
                      </a:solidFill>
                      <a:prstDash val="solid"/>
                    </a:lnB>
                  </a:tcPr>
                </a:tc>
              </a:tr>
              <a:tr h="359410">
                <a:tc>
                  <a:txBody>
                    <a:bodyPr/>
                    <a:lstStyle/>
                    <a:p>
                      <a:pPr marL="112395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dirty="0" sz="700">
                          <a:solidFill>
                            <a:srgbClr val="E4DFDF"/>
                          </a:solidFill>
                          <a:latin typeface="Arial"/>
                          <a:cs typeface="Arial"/>
                        </a:rPr>
                        <a:t>Health</a:t>
                      </a:r>
                      <a:r>
                        <a:rPr dirty="0" sz="700" spc="-25">
                          <a:solidFill>
                            <a:srgbClr val="E4DFD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700" spc="-10">
                          <a:solidFill>
                            <a:srgbClr val="E4DFDF"/>
                          </a:solidFill>
                          <a:latin typeface="Arial"/>
                          <a:cs typeface="Arial"/>
                        </a:rPr>
                        <a:t>Timeline</a:t>
                      </a:r>
                      <a:endParaRPr sz="700">
                        <a:latin typeface="Arial"/>
                        <a:cs typeface="Arial"/>
                      </a:endParaRPr>
                    </a:p>
                    <a:p>
                      <a:pPr marL="112395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dirty="0" sz="650">
                          <a:solidFill>
                            <a:srgbClr val="E4DFDF"/>
                          </a:solidFill>
                          <a:latin typeface="Arial"/>
                          <a:cs typeface="Arial"/>
                        </a:rPr>
                        <a:t>All</a:t>
                      </a:r>
                      <a:r>
                        <a:rPr dirty="0" sz="650" spc="-5">
                          <a:solidFill>
                            <a:srgbClr val="E4DFD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650" spc="-10">
                          <a:solidFill>
                            <a:srgbClr val="E4DFDF"/>
                          </a:solidFill>
                          <a:latin typeface="Arial"/>
                          <a:cs typeface="Arial"/>
                        </a:rPr>
                        <a:t>medical</a:t>
                      </a:r>
                      <a:r>
                        <a:rPr dirty="0" sz="650" spc="-5">
                          <a:solidFill>
                            <a:srgbClr val="E4DFD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650">
                          <a:solidFill>
                            <a:srgbClr val="E4DFDF"/>
                          </a:solidFill>
                          <a:latin typeface="Arial"/>
                          <a:cs typeface="Arial"/>
                        </a:rPr>
                        <a:t>activity </a:t>
                      </a:r>
                      <a:r>
                        <a:rPr dirty="0" sz="650" spc="-10">
                          <a:solidFill>
                            <a:srgbClr val="E4DFDF"/>
                          </a:solidFill>
                          <a:latin typeface="Arial"/>
                          <a:cs typeface="Arial"/>
                        </a:rPr>
                        <a:t>organized</a:t>
                      </a:r>
                      <a:r>
                        <a:rPr dirty="0" sz="650" spc="-5">
                          <a:solidFill>
                            <a:srgbClr val="E4DFD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650" spc="-10">
                          <a:solidFill>
                            <a:srgbClr val="E4DFDF"/>
                          </a:solidFill>
                          <a:latin typeface="Arial"/>
                          <a:cs typeface="Arial"/>
                        </a:rPr>
                        <a:t>chronologically</a:t>
                      </a:r>
                      <a:endParaRPr sz="650">
                        <a:latin typeface="Arial"/>
                        <a:cs typeface="Arial"/>
                      </a:endParaRPr>
                    </a:p>
                  </a:txBody>
                  <a:tcPr marL="0" marR="0" marB="0" marT="43815">
                    <a:lnT w="76200">
                      <a:solidFill>
                        <a:srgbClr val="232122"/>
                      </a:solidFill>
                      <a:prstDash val="solid"/>
                    </a:lnT>
                    <a:lnB w="76200">
                      <a:solidFill>
                        <a:srgbClr val="232122"/>
                      </a:solidFill>
                      <a:prstDash val="solid"/>
                    </a:lnB>
                  </a:tcPr>
                </a:tc>
              </a:tr>
              <a:tr h="323215">
                <a:tc>
                  <a:txBody>
                    <a:bodyPr/>
                    <a:lstStyle/>
                    <a:p>
                      <a:pPr marL="112395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dirty="0" sz="700">
                          <a:solidFill>
                            <a:srgbClr val="E4DFDF"/>
                          </a:solidFill>
                          <a:latin typeface="Arial"/>
                          <a:cs typeface="Arial"/>
                        </a:rPr>
                        <a:t>Intelligent</a:t>
                      </a:r>
                      <a:r>
                        <a:rPr dirty="0" sz="700" spc="-50">
                          <a:solidFill>
                            <a:srgbClr val="E4DFD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700" spc="-10">
                          <a:solidFill>
                            <a:srgbClr val="E4DFDF"/>
                          </a:solidFill>
                          <a:latin typeface="Arial"/>
                          <a:cs typeface="Arial"/>
                        </a:rPr>
                        <a:t>Search</a:t>
                      </a:r>
                      <a:endParaRPr sz="700">
                        <a:latin typeface="Arial"/>
                        <a:cs typeface="Arial"/>
                      </a:endParaRPr>
                    </a:p>
                    <a:p>
                      <a:pPr marL="112395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dirty="0" sz="650">
                          <a:solidFill>
                            <a:srgbClr val="E4DFDF"/>
                          </a:solidFill>
                          <a:latin typeface="Arial"/>
                          <a:cs typeface="Arial"/>
                        </a:rPr>
                        <a:t>Find</a:t>
                      </a:r>
                      <a:r>
                        <a:rPr dirty="0" sz="650" spc="-5">
                          <a:solidFill>
                            <a:srgbClr val="E4DFD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650">
                          <a:solidFill>
                            <a:srgbClr val="E4DFDF"/>
                          </a:solidFill>
                          <a:latin typeface="Arial"/>
                          <a:cs typeface="Arial"/>
                        </a:rPr>
                        <a:t>records</a:t>
                      </a:r>
                      <a:r>
                        <a:rPr dirty="0" sz="650" spc="-5">
                          <a:solidFill>
                            <a:srgbClr val="E4DFD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650">
                          <a:solidFill>
                            <a:srgbClr val="E4DFDF"/>
                          </a:solidFill>
                          <a:latin typeface="Arial"/>
                          <a:cs typeface="Arial"/>
                        </a:rPr>
                        <a:t>by</a:t>
                      </a:r>
                      <a:r>
                        <a:rPr dirty="0" sz="650" spc="-5">
                          <a:solidFill>
                            <a:srgbClr val="E4DFD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650">
                          <a:solidFill>
                            <a:srgbClr val="E4DFDF"/>
                          </a:solidFill>
                          <a:latin typeface="Arial"/>
                          <a:cs typeface="Arial"/>
                        </a:rPr>
                        <a:t>doctor,</a:t>
                      </a:r>
                      <a:r>
                        <a:rPr dirty="0" sz="650" spc="-5">
                          <a:solidFill>
                            <a:srgbClr val="E4DFD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650" spc="-10">
                          <a:solidFill>
                            <a:srgbClr val="E4DFDF"/>
                          </a:solidFill>
                          <a:latin typeface="Arial"/>
                          <a:cs typeface="Arial"/>
                        </a:rPr>
                        <a:t>hospital,</a:t>
                      </a:r>
                      <a:r>
                        <a:rPr dirty="0" sz="650" spc="-5">
                          <a:solidFill>
                            <a:srgbClr val="E4DFD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650" spc="-10">
                          <a:solidFill>
                            <a:srgbClr val="E4DFDF"/>
                          </a:solidFill>
                          <a:latin typeface="Arial"/>
                          <a:cs typeface="Arial"/>
                        </a:rPr>
                        <a:t>disease,</a:t>
                      </a:r>
                      <a:r>
                        <a:rPr dirty="0" sz="650" spc="-5">
                          <a:solidFill>
                            <a:srgbClr val="E4DFD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650">
                          <a:solidFill>
                            <a:srgbClr val="E4DFDF"/>
                          </a:solidFill>
                          <a:latin typeface="Arial"/>
                          <a:cs typeface="Arial"/>
                        </a:rPr>
                        <a:t>date,</a:t>
                      </a:r>
                      <a:r>
                        <a:rPr dirty="0" sz="650" spc="-5">
                          <a:solidFill>
                            <a:srgbClr val="E4DFD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650">
                          <a:solidFill>
                            <a:srgbClr val="E4DFDF"/>
                          </a:solidFill>
                          <a:latin typeface="Arial"/>
                          <a:cs typeface="Arial"/>
                        </a:rPr>
                        <a:t>or</a:t>
                      </a:r>
                      <a:r>
                        <a:rPr dirty="0" sz="650" spc="-5">
                          <a:solidFill>
                            <a:srgbClr val="E4DFD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650" spc="-10">
                          <a:solidFill>
                            <a:srgbClr val="E4DFDF"/>
                          </a:solidFill>
                          <a:latin typeface="Arial"/>
                          <a:cs typeface="Arial"/>
                        </a:rPr>
                        <a:t>medicine</a:t>
                      </a:r>
                      <a:endParaRPr sz="650">
                        <a:latin typeface="Arial"/>
                        <a:cs typeface="Arial"/>
                      </a:endParaRPr>
                    </a:p>
                  </a:txBody>
                  <a:tcPr marL="0" marR="0" marB="0" marT="43815">
                    <a:lnT w="76200">
                      <a:solidFill>
                        <a:srgbClr val="232122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object 3" descr=""/>
          <p:cNvSpPr/>
          <p:nvPr/>
        </p:nvSpPr>
        <p:spPr>
          <a:xfrm>
            <a:off x="3969016" y="1695450"/>
            <a:ext cx="906144" cy="290195"/>
          </a:xfrm>
          <a:custGeom>
            <a:avLst/>
            <a:gdLst/>
            <a:ahLst/>
            <a:cxnLst/>
            <a:rect l="l" t="t" r="r" b="b"/>
            <a:pathLst>
              <a:path w="906145" h="290194">
                <a:moveTo>
                  <a:pt x="854219" y="0"/>
                </a:moveTo>
                <a:lnTo>
                  <a:pt x="51846" y="0"/>
                </a:lnTo>
                <a:lnTo>
                  <a:pt x="31746" y="4101"/>
                </a:lnTo>
                <a:lnTo>
                  <a:pt x="15257" y="15257"/>
                </a:lnTo>
                <a:lnTo>
                  <a:pt x="4101" y="31745"/>
                </a:lnTo>
                <a:lnTo>
                  <a:pt x="0" y="51841"/>
                </a:lnTo>
                <a:lnTo>
                  <a:pt x="0" y="238213"/>
                </a:lnTo>
                <a:lnTo>
                  <a:pt x="4101" y="258317"/>
                </a:lnTo>
                <a:lnTo>
                  <a:pt x="15257" y="274808"/>
                </a:lnTo>
                <a:lnTo>
                  <a:pt x="31746" y="285966"/>
                </a:lnTo>
                <a:lnTo>
                  <a:pt x="51846" y="290067"/>
                </a:lnTo>
                <a:lnTo>
                  <a:pt x="854219" y="290067"/>
                </a:lnTo>
                <a:lnTo>
                  <a:pt x="874319" y="285966"/>
                </a:lnTo>
                <a:lnTo>
                  <a:pt x="890808" y="274808"/>
                </a:lnTo>
                <a:lnTo>
                  <a:pt x="901964" y="258317"/>
                </a:lnTo>
                <a:lnTo>
                  <a:pt x="906066" y="238213"/>
                </a:lnTo>
                <a:lnTo>
                  <a:pt x="906066" y="51841"/>
                </a:lnTo>
                <a:lnTo>
                  <a:pt x="901964" y="31745"/>
                </a:lnTo>
                <a:lnTo>
                  <a:pt x="890808" y="15257"/>
                </a:lnTo>
                <a:lnTo>
                  <a:pt x="874319" y="4101"/>
                </a:lnTo>
                <a:lnTo>
                  <a:pt x="854219" y="0"/>
                </a:lnTo>
                <a:close/>
              </a:path>
            </a:pathLst>
          </a:custGeom>
          <a:solidFill>
            <a:srgbClr val="47040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4048899" y="1726488"/>
            <a:ext cx="829310" cy="1701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50">
                <a:solidFill>
                  <a:srgbClr val="E4DFDF"/>
                </a:solidFill>
                <a:latin typeface="Arial"/>
                <a:cs typeface="Arial"/>
              </a:rPr>
              <a:t>FAMILY</a:t>
            </a:r>
            <a:r>
              <a:rPr dirty="0" sz="950" spc="-25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950" spc="-20">
                <a:solidFill>
                  <a:srgbClr val="E4DFDF"/>
                </a:solidFill>
                <a:latin typeface="Arial"/>
                <a:cs typeface="Arial"/>
              </a:rPr>
              <a:t>CARE</a:t>
            </a:r>
            <a:endParaRPr sz="95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Family</a:t>
            </a:r>
            <a:r>
              <a:rPr dirty="0" spc="-10"/>
              <a:t> </a:t>
            </a:r>
            <a:r>
              <a:rPr dirty="0"/>
              <a:t>&amp;</a:t>
            </a:r>
            <a:r>
              <a:rPr dirty="0" spc="-5"/>
              <a:t> </a:t>
            </a:r>
            <a:r>
              <a:rPr dirty="0"/>
              <a:t>Caregiver</a:t>
            </a:r>
            <a:r>
              <a:rPr dirty="0" spc="-5"/>
              <a:t> </a:t>
            </a:r>
            <a:r>
              <a:rPr dirty="0" spc="-10"/>
              <a:t>Dashboard</a:t>
            </a:r>
          </a:p>
        </p:txBody>
      </p:sp>
      <p:sp>
        <p:nvSpPr>
          <p:cNvPr id="6" name="object 6" descr=""/>
          <p:cNvSpPr txBox="1"/>
          <p:nvPr/>
        </p:nvSpPr>
        <p:spPr>
          <a:xfrm>
            <a:off x="3956316" y="2630982"/>
            <a:ext cx="4090035" cy="7556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33000"/>
              </a:lnSpc>
              <a:spcBef>
                <a:spcPts val="100"/>
              </a:spcBef>
            </a:pPr>
            <a:r>
              <a:rPr dirty="0" sz="1200">
                <a:solidFill>
                  <a:srgbClr val="E4DFDF"/>
                </a:solidFill>
                <a:latin typeface="Arial"/>
                <a:cs typeface="Arial"/>
              </a:rPr>
              <a:t>Securely</a:t>
            </a:r>
            <a:r>
              <a:rPr dirty="0" sz="1200" spc="-15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E4DFDF"/>
                </a:solidFill>
                <a:latin typeface="Arial"/>
                <a:cs typeface="Arial"/>
              </a:rPr>
              <a:t>share</a:t>
            </a:r>
            <a:r>
              <a:rPr dirty="0" sz="1200" spc="-15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E4DFDF"/>
                </a:solidFill>
                <a:latin typeface="Arial"/>
                <a:cs typeface="Arial"/>
              </a:rPr>
              <a:t>access</a:t>
            </a:r>
            <a:r>
              <a:rPr dirty="0" sz="1200" spc="-15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E4DFDF"/>
                </a:solidFill>
                <a:latin typeface="Arial"/>
                <a:cs typeface="Arial"/>
              </a:rPr>
              <a:t>with</a:t>
            </a:r>
            <a:r>
              <a:rPr dirty="0" sz="1200" spc="-15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E4DFDF"/>
                </a:solidFill>
                <a:latin typeface="Arial"/>
                <a:cs typeface="Arial"/>
              </a:rPr>
              <a:t>trusted</a:t>
            </a:r>
            <a:r>
              <a:rPr dirty="0" sz="1200" spc="-15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E4DFDF"/>
                </a:solidFill>
                <a:latin typeface="Arial"/>
                <a:cs typeface="Arial"/>
              </a:rPr>
              <a:t>family</a:t>
            </a:r>
            <a:r>
              <a:rPr dirty="0" sz="1200" spc="-15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E4DFDF"/>
                </a:solidFill>
                <a:latin typeface="Arial"/>
                <a:cs typeface="Arial"/>
              </a:rPr>
              <a:t>members.</a:t>
            </a:r>
            <a:r>
              <a:rPr dirty="0" sz="1200" spc="-10">
                <a:solidFill>
                  <a:srgbClr val="E4DFDF"/>
                </a:solidFill>
                <a:latin typeface="Arial"/>
                <a:cs typeface="Arial"/>
              </a:rPr>
              <a:t> Monitor </a:t>
            </a:r>
            <a:r>
              <a:rPr dirty="0" sz="1200">
                <a:solidFill>
                  <a:srgbClr val="E4DFDF"/>
                </a:solidFill>
                <a:latin typeface="Arial"/>
                <a:cs typeface="Arial"/>
              </a:rPr>
              <a:t>medication</a:t>
            </a:r>
            <a:r>
              <a:rPr dirty="0" sz="1200" spc="-35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E4DFDF"/>
                </a:solidFill>
                <a:latin typeface="Arial"/>
                <a:cs typeface="Arial"/>
              </a:rPr>
              <a:t>schedules,</a:t>
            </a:r>
            <a:r>
              <a:rPr dirty="0" sz="1200" spc="-30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E4DFDF"/>
                </a:solidFill>
                <a:latin typeface="Arial"/>
                <a:cs typeface="Arial"/>
              </a:rPr>
              <a:t>appointments,</a:t>
            </a:r>
            <a:r>
              <a:rPr dirty="0" sz="1200" spc="-30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E4DFDF"/>
                </a:solidFill>
                <a:latin typeface="Arial"/>
                <a:cs typeface="Arial"/>
              </a:rPr>
              <a:t>and</a:t>
            </a:r>
            <a:r>
              <a:rPr dirty="0" sz="1200" spc="-30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E4DFDF"/>
                </a:solidFill>
                <a:latin typeface="Arial"/>
                <a:cs typeface="Arial"/>
              </a:rPr>
              <a:t>health</a:t>
            </a:r>
            <a:r>
              <a:rPr dirty="0" sz="1200" spc="-30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E4DFDF"/>
                </a:solidFill>
                <a:latin typeface="Arial"/>
                <a:cs typeface="Arial"/>
              </a:rPr>
              <a:t>updates</a:t>
            </a:r>
            <a:r>
              <a:rPr dirty="0" sz="1200" spc="-30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1200" spc="-50">
                <a:solidFill>
                  <a:srgbClr val="E4DFDF"/>
                </a:solidFill>
                <a:latin typeface="Arial"/>
                <a:cs typeface="Arial"/>
              </a:rPr>
              <a:t>— </a:t>
            </a:r>
            <a:r>
              <a:rPr dirty="0" sz="1200">
                <a:solidFill>
                  <a:srgbClr val="E4DFDF"/>
                </a:solidFill>
                <a:latin typeface="Arial"/>
                <a:cs typeface="Arial"/>
              </a:rPr>
              <a:t>especially</a:t>
            </a:r>
            <a:r>
              <a:rPr dirty="0" sz="1200" spc="-20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E4DFDF"/>
                </a:solidFill>
                <a:latin typeface="Arial"/>
                <a:cs typeface="Arial"/>
              </a:rPr>
              <a:t>helpful</a:t>
            </a:r>
            <a:r>
              <a:rPr dirty="0" sz="1200" spc="-5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E4DFDF"/>
                </a:solidFill>
                <a:latin typeface="Arial"/>
                <a:cs typeface="Arial"/>
              </a:rPr>
              <a:t>for</a:t>
            </a:r>
            <a:r>
              <a:rPr dirty="0" sz="1200" spc="-5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E4DFDF"/>
                </a:solidFill>
                <a:latin typeface="Arial"/>
                <a:cs typeface="Arial"/>
              </a:rPr>
              <a:t>elderly</a:t>
            </a:r>
            <a:r>
              <a:rPr dirty="0" sz="1200" spc="-10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E4DFDF"/>
                </a:solidFill>
                <a:latin typeface="Arial"/>
                <a:cs typeface="Arial"/>
              </a:rPr>
              <a:t>patients</a:t>
            </a:r>
            <a:r>
              <a:rPr dirty="0" sz="1200" spc="-5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E4DFDF"/>
                </a:solidFill>
                <a:latin typeface="Arial"/>
                <a:cs typeface="Arial"/>
              </a:rPr>
              <a:t>and</a:t>
            </a:r>
            <a:r>
              <a:rPr dirty="0" sz="1200" spc="-5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E4DFDF"/>
                </a:solidFill>
                <a:latin typeface="Arial"/>
                <a:cs typeface="Arial"/>
              </a:rPr>
              <a:t>children.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29181" y="4844491"/>
            <a:ext cx="1071843" cy="25603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27323" y="439769"/>
            <a:ext cx="5262245" cy="429259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650"/>
              <a:t>Emergency</a:t>
            </a:r>
            <a:r>
              <a:rPr dirty="0" sz="2650" spc="-100"/>
              <a:t> </a:t>
            </a:r>
            <a:r>
              <a:rPr dirty="0" sz="2650"/>
              <a:t>&amp;</a:t>
            </a:r>
            <a:r>
              <a:rPr dirty="0" sz="2650" spc="-100"/>
              <a:t> </a:t>
            </a:r>
            <a:r>
              <a:rPr dirty="0" sz="2650"/>
              <a:t>Intelligence</a:t>
            </a:r>
            <a:r>
              <a:rPr dirty="0" sz="2650" spc="-100"/>
              <a:t> </a:t>
            </a:r>
            <a:r>
              <a:rPr dirty="0" sz="2650" spc="-10"/>
              <a:t>Features</a:t>
            </a:r>
            <a:endParaRPr sz="2650"/>
          </a:p>
        </p:txBody>
      </p:sp>
      <p:sp>
        <p:nvSpPr>
          <p:cNvPr id="4" name="object 4" descr=""/>
          <p:cNvSpPr/>
          <p:nvPr/>
        </p:nvSpPr>
        <p:spPr>
          <a:xfrm>
            <a:off x="430634" y="1105719"/>
            <a:ext cx="4065904" cy="3578225"/>
          </a:xfrm>
          <a:custGeom>
            <a:avLst/>
            <a:gdLst/>
            <a:ahLst/>
            <a:cxnLst/>
            <a:rect l="l" t="t" r="r" b="b"/>
            <a:pathLst>
              <a:path w="4065904" h="3578225">
                <a:moveTo>
                  <a:pt x="3956113" y="0"/>
                </a:moveTo>
                <a:lnTo>
                  <a:pt x="109349" y="0"/>
                </a:lnTo>
                <a:lnTo>
                  <a:pt x="66956" y="8650"/>
                </a:lnTo>
                <a:lnTo>
                  <a:pt x="32179" y="32180"/>
                </a:lnTo>
                <a:lnTo>
                  <a:pt x="8650" y="66956"/>
                </a:lnTo>
                <a:lnTo>
                  <a:pt x="0" y="109347"/>
                </a:lnTo>
                <a:lnTo>
                  <a:pt x="0" y="3468852"/>
                </a:lnTo>
                <a:lnTo>
                  <a:pt x="8650" y="3511243"/>
                </a:lnTo>
                <a:lnTo>
                  <a:pt x="32179" y="3546019"/>
                </a:lnTo>
                <a:lnTo>
                  <a:pt x="66956" y="3569549"/>
                </a:lnTo>
                <a:lnTo>
                  <a:pt x="109349" y="3578199"/>
                </a:lnTo>
                <a:lnTo>
                  <a:pt x="3956113" y="3578199"/>
                </a:lnTo>
                <a:lnTo>
                  <a:pt x="3998503" y="3569549"/>
                </a:lnTo>
                <a:lnTo>
                  <a:pt x="4033280" y="3546019"/>
                </a:lnTo>
                <a:lnTo>
                  <a:pt x="4056810" y="3511243"/>
                </a:lnTo>
                <a:lnTo>
                  <a:pt x="4065460" y="3468852"/>
                </a:lnTo>
                <a:lnTo>
                  <a:pt x="4065460" y="109347"/>
                </a:lnTo>
                <a:lnTo>
                  <a:pt x="4056810" y="66956"/>
                </a:lnTo>
                <a:lnTo>
                  <a:pt x="4033280" y="32180"/>
                </a:lnTo>
                <a:lnTo>
                  <a:pt x="3998503" y="8650"/>
                </a:lnTo>
                <a:lnTo>
                  <a:pt x="3956113" y="0"/>
                </a:lnTo>
                <a:close/>
              </a:path>
            </a:pathLst>
          </a:custGeom>
          <a:solidFill>
            <a:srgbClr val="F65F61">
              <a:alpha val="94900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569813" y="1239023"/>
            <a:ext cx="2145030" cy="223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-10">
                <a:latin typeface="Arial"/>
                <a:cs typeface="Arial"/>
              </a:rPr>
              <a:t>One-</a:t>
            </a:r>
            <a:r>
              <a:rPr dirty="0" sz="1300">
                <a:latin typeface="Arial"/>
                <a:cs typeface="Arial"/>
              </a:rPr>
              <a:t>Click</a:t>
            </a:r>
            <a:r>
              <a:rPr dirty="0" sz="1300" spc="-40">
                <a:latin typeface="Arial"/>
                <a:cs typeface="Arial"/>
              </a:rPr>
              <a:t> </a:t>
            </a:r>
            <a:r>
              <a:rPr dirty="0" sz="1300">
                <a:latin typeface="Arial"/>
                <a:cs typeface="Arial"/>
              </a:rPr>
              <a:t>Emergency</a:t>
            </a:r>
            <a:r>
              <a:rPr dirty="0" sz="1300" spc="-35">
                <a:latin typeface="Arial"/>
                <a:cs typeface="Arial"/>
              </a:rPr>
              <a:t> </a:t>
            </a:r>
            <a:r>
              <a:rPr dirty="0" sz="1300" spc="-10">
                <a:latin typeface="Arial"/>
                <a:cs typeface="Arial"/>
              </a:rPr>
              <a:t>Profile</a:t>
            </a:r>
            <a:endParaRPr sz="1300">
              <a:latin typeface="Arial"/>
              <a:cs typeface="Arial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569813" y="1543812"/>
            <a:ext cx="1582420" cy="1182370"/>
          </a:xfrm>
          <a:prstGeom prst="rect">
            <a:avLst/>
          </a:prstGeom>
        </p:spPr>
        <p:txBody>
          <a:bodyPr wrap="square" lIns="0" tIns="68580" rIns="0" bIns="0" rtlCol="0" vert="horz">
            <a:spAutoFit/>
          </a:bodyPr>
          <a:lstStyle/>
          <a:p>
            <a:pPr marL="245745" indent="-233045">
              <a:lnSpc>
                <a:spcPct val="100000"/>
              </a:lnSpc>
              <a:spcBef>
                <a:spcPts val="540"/>
              </a:spcBef>
              <a:buChar char="•"/>
              <a:tabLst>
                <a:tab pos="245745" algn="l"/>
              </a:tabLst>
            </a:pPr>
            <a:r>
              <a:rPr dirty="0" sz="1150">
                <a:latin typeface="Arial"/>
                <a:cs typeface="Arial"/>
              </a:rPr>
              <a:t>Blood</a:t>
            </a:r>
            <a:r>
              <a:rPr dirty="0" sz="1150" spc="-15">
                <a:latin typeface="Arial"/>
                <a:cs typeface="Arial"/>
              </a:rPr>
              <a:t> </a:t>
            </a:r>
            <a:r>
              <a:rPr dirty="0" sz="1150" spc="-10">
                <a:latin typeface="Arial"/>
                <a:cs typeface="Arial"/>
              </a:rPr>
              <a:t>group</a:t>
            </a:r>
            <a:endParaRPr sz="1150">
              <a:latin typeface="Arial"/>
              <a:cs typeface="Arial"/>
            </a:endParaRPr>
          </a:p>
          <a:p>
            <a:pPr marL="245745" indent="-233045">
              <a:lnSpc>
                <a:spcPct val="100000"/>
              </a:lnSpc>
              <a:spcBef>
                <a:spcPts val="440"/>
              </a:spcBef>
              <a:buChar char="•"/>
              <a:tabLst>
                <a:tab pos="245745" algn="l"/>
              </a:tabLst>
            </a:pPr>
            <a:r>
              <a:rPr dirty="0" sz="1150" spc="-10">
                <a:latin typeface="Arial"/>
                <a:cs typeface="Arial"/>
              </a:rPr>
              <a:t>Allergies</a:t>
            </a:r>
            <a:endParaRPr sz="1150">
              <a:latin typeface="Arial"/>
              <a:cs typeface="Arial"/>
            </a:endParaRPr>
          </a:p>
          <a:p>
            <a:pPr marL="245745" indent="-233045">
              <a:lnSpc>
                <a:spcPct val="100000"/>
              </a:lnSpc>
              <a:spcBef>
                <a:spcPts val="445"/>
              </a:spcBef>
              <a:buChar char="•"/>
              <a:tabLst>
                <a:tab pos="245745" algn="l"/>
              </a:tabLst>
            </a:pPr>
            <a:r>
              <a:rPr dirty="0" sz="1150">
                <a:latin typeface="Arial"/>
                <a:cs typeface="Arial"/>
              </a:rPr>
              <a:t>Chronic </a:t>
            </a:r>
            <a:r>
              <a:rPr dirty="0" sz="1150" spc="-10">
                <a:latin typeface="Arial"/>
                <a:cs typeface="Arial"/>
              </a:rPr>
              <a:t>diseases</a:t>
            </a:r>
            <a:endParaRPr sz="1150">
              <a:latin typeface="Arial"/>
              <a:cs typeface="Arial"/>
            </a:endParaRPr>
          </a:p>
          <a:p>
            <a:pPr marL="245745" indent="-233045">
              <a:lnSpc>
                <a:spcPct val="100000"/>
              </a:lnSpc>
              <a:spcBef>
                <a:spcPts val="440"/>
              </a:spcBef>
              <a:buChar char="•"/>
              <a:tabLst>
                <a:tab pos="245745" algn="l"/>
              </a:tabLst>
            </a:pPr>
            <a:r>
              <a:rPr dirty="0" sz="1150">
                <a:latin typeface="Arial"/>
                <a:cs typeface="Arial"/>
              </a:rPr>
              <a:t>Current</a:t>
            </a:r>
            <a:r>
              <a:rPr dirty="0" sz="1150" spc="-70">
                <a:latin typeface="Arial"/>
                <a:cs typeface="Arial"/>
              </a:rPr>
              <a:t> </a:t>
            </a:r>
            <a:r>
              <a:rPr dirty="0" sz="1150" spc="-10">
                <a:latin typeface="Arial"/>
                <a:cs typeface="Arial"/>
              </a:rPr>
              <a:t>medications</a:t>
            </a:r>
            <a:endParaRPr sz="1150">
              <a:latin typeface="Arial"/>
              <a:cs typeface="Arial"/>
            </a:endParaRPr>
          </a:p>
          <a:p>
            <a:pPr marL="245745" indent="-233045">
              <a:lnSpc>
                <a:spcPct val="100000"/>
              </a:lnSpc>
              <a:spcBef>
                <a:spcPts val="440"/>
              </a:spcBef>
              <a:buChar char="•"/>
              <a:tabLst>
                <a:tab pos="245745" algn="l"/>
              </a:tabLst>
            </a:pPr>
            <a:r>
              <a:rPr dirty="0" sz="1150">
                <a:latin typeface="Arial"/>
                <a:cs typeface="Arial"/>
              </a:rPr>
              <a:t>Emergency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10">
                <a:latin typeface="Arial"/>
                <a:cs typeface="Arial"/>
              </a:rPr>
              <a:t>contacts</a:t>
            </a:r>
            <a:endParaRPr sz="1150">
              <a:latin typeface="Arial"/>
              <a:cs typeface="Arial"/>
            </a:endParaRPr>
          </a:p>
        </p:txBody>
      </p:sp>
      <p:grpSp>
        <p:nvGrpSpPr>
          <p:cNvPr id="7" name="object 7" descr=""/>
          <p:cNvGrpSpPr/>
          <p:nvPr/>
        </p:nvGrpSpPr>
        <p:grpSpPr>
          <a:xfrm>
            <a:off x="4752530" y="1264373"/>
            <a:ext cx="1868170" cy="1927225"/>
            <a:chOff x="4752530" y="1264373"/>
            <a:chExt cx="1868170" cy="1927225"/>
          </a:xfrm>
        </p:grpSpPr>
        <p:sp>
          <p:nvSpPr>
            <p:cNvPr id="8" name="object 8" descr=""/>
            <p:cNvSpPr/>
            <p:nvPr/>
          </p:nvSpPr>
          <p:spPr>
            <a:xfrm>
              <a:off x="4762055" y="1273898"/>
              <a:ext cx="1849120" cy="1908175"/>
            </a:xfrm>
            <a:custGeom>
              <a:avLst/>
              <a:gdLst/>
              <a:ahLst/>
              <a:cxnLst/>
              <a:rect l="l" t="t" r="r" b="b"/>
              <a:pathLst>
                <a:path w="1849120" h="1908175">
                  <a:moveTo>
                    <a:pt x="1784794" y="0"/>
                  </a:moveTo>
                  <a:lnTo>
                    <a:pt x="63794" y="0"/>
                  </a:lnTo>
                  <a:lnTo>
                    <a:pt x="39062" y="5047"/>
                  </a:lnTo>
                  <a:lnTo>
                    <a:pt x="18773" y="18775"/>
                  </a:lnTo>
                  <a:lnTo>
                    <a:pt x="5046" y="39063"/>
                  </a:lnTo>
                  <a:lnTo>
                    <a:pt x="0" y="63792"/>
                  </a:lnTo>
                  <a:lnTo>
                    <a:pt x="0" y="1844027"/>
                  </a:lnTo>
                  <a:lnTo>
                    <a:pt x="5046" y="1868762"/>
                  </a:lnTo>
                  <a:lnTo>
                    <a:pt x="18773" y="1889055"/>
                  </a:lnTo>
                  <a:lnTo>
                    <a:pt x="39062" y="1902784"/>
                  </a:lnTo>
                  <a:lnTo>
                    <a:pt x="63794" y="1907832"/>
                  </a:lnTo>
                  <a:lnTo>
                    <a:pt x="1784794" y="1907832"/>
                  </a:lnTo>
                  <a:lnTo>
                    <a:pt x="1809530" y="1902784"/>
                  </a:lnTo>
                  <a:lnTo>
                    <a:pt x="1829822" y="1889055"/>
                  </a:lnTo>
                  <a:lnTo>
                    <a:pt x="1843551" y="1868762"/>
                  </a:lnTo>
                  <a:lnTo>
                    <a:pt x="1848599" y="1844027"/>
                  </a:lnTo>
                  <a:lnTo>
                    <a:pt x="1848599" y="63792"/>
                  </a:lnTo>
                  <a:lnTo>
                    <a:pt x="1843551" y="39063"/>
                  </a:lnTo>
                  <a:lnTo>
                    <a:pt x="1829822" y="18775"/>
                  </a:lnTo>
                  <a:lnTo>
                    <a:pt x="1809530" y="5047"/>
                  </a:lnTo>
                  <a:lnTo>
                    <a:pt x="1784794" y="0"/>
                  </a:lnTo>
                  <a:close/>
                </a:path>
              </a:pathLst>
            </a:custGeom>
            <a:solidFill>
              <a:srgbClr val="181617">
                <a:alpha val="949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4762055" y="1273898"/>
              <a:ext cx="1849120" cy="1908175"/>
            </a:xfrm>
            <a:custGeom>
              <a:avLst/>
              <a:gdLst/>
              <a:ahLst/>
              <a:cxnLst/>
              <a:rect l="l" t="t" r="r" b="b"/>
              <a:pathLst>
                <a:path w="1849120" h="1908175">
                  <a:moveTo>
                    <a:pt x="0" y="63792"/>
                  </a:moveTo>
                  <a:lnTo>
                    <a:pt x="5046" y="39063"/>
                  </a:lnTo>
                  <a:lnTo>
                    <a:pt x="18773" y="18775"/>
                  </a:lnTo>
                  <a:lnTo>
                    <a:pt x="39062" y="5047"/>
                  </a:lnTo>
                  <a:lnTo>
                    <a:pt x="63794" y="0"/>
                  </a:lnTo>
                  <a:lnTo>
                    <a:pt x="1784794" y="0"/>
                  </a:lnTo>
                  <a:lnTo>
                    <a:pt x="1809530" y="5047"/>
                  </a:lnTo>
                  <a:lnTo>
                    <a:pt x="1829822" y="18775"/>
                  </a:lnTo>
                  <a:lnTo>
                    <a:pt x="1843551" y="39063"/>
                  </a:lnTo>
                  <a:lnTo>
                    <a:pt x="1848599" y="63792"/>
                  </a:lnTo>
                  <a:lnTo>
                    <a:pt x="1848599" y="1844027"/>
                  </a:lnTo>
                  <a:lnTo>
                    <a:pt x="1843551" y="1868762"/>
                  </a:lnTo>
                  <a:lnTo>
                    <a:pt x="1829822" y="1889055"/>
                  </a:lnTo>
                  <a:lnTo>
                    <a:pt x="1809530" y="1902784"/>
                  </a:lnTo>
                  <a:lnTo>
                    <a:pt x="1784794" y="1907832"/>
                  </a:lnTo>
                  <a:lnTo>
                    <a:pt x="63794" y="1907832"/>
                  </a:lnTo>
                  <a:lnTo>
                    <a:pt x="39062" y="1902784"/>
                  </a:lnTo>
                  <a:lnTo>
                    <a:pt x="18773" y="1889055"/>
                  </a:lnTo>
                  <a:lnTo>
                    <a:pt x="5046" y="1868762"/>
                  </a:lnTo>
                  <a:lnTo>
                    <a:pt x="0" y="1844027"/>
                  </a:lnTo>
                  <a:lnTo>
                    <a:pt x="0" y="63792"/>
                  </a:lnTo>
                  <a:close/>
                </a:path>
              </a:pathLst>
            </a:custGeom>
            <a:ln w="19049">
              <a:solidFill>
                <a:srgbClr val="921F2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 descr=""/>
          <p:cNvSpPr txBox="1"/>
          <p:nvPr/>
        </p:nvSpPr>
        <p:spPr>
          <a:xfrm>
            <a:off x="4774103" y="1428635"/>
            <a:ext cx="1824989" cy="14871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58750">
              <a:lnSpc>
                <a:spcPct val="100000"/>
              </a:lnSpc>
              <a:spcBef>
                <a:spcPts val="100"/>
              </a:spcBef>
            </a:pPr>
            <a:r>
              <a:rPr dirty="0" sz="1300">
                <a:solidFill>
                  <a:srgbClr val="E4DFDF"/>
                </a:solidFill>
                <a:latin typeface="Arial"/>
                <a:cs typeface="Arial"/>
              </a:rPr>
              <a:t>Health</a:t>
            </a:r>
            <a:r>
              <a:rPr dirty="0" sz="1300" spc="-30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E4DFDF"/>
                </a:solidFill>
                <a:latin typeface="Arial"/>
                <a:cs typeface="Arial"/>
              </a:rPr>
              <a:t>Risk</a:t>
            </a:r>
            <a:r>
              <a:rPr dirty="0" sz="1300" spc="-30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E4DFDF"/>
                </a:solidFill>
                <a:latin typeface="Arial"/>
                <a:cs typeface="Arial"/>
              </a:rPr>
              <a:t>Alerts</a:t>
            </a:r>
            <a:endParaRPr sz="1300">
              <a:latin typeface="Arial"/>
              <a:cs typeface="Arial"/>
            </a:endParaRPr>
          </a:p>
          <a:p>
            <a:pPr marL="158750" marR="521334">
              <a:lnSpc>
                <a:spcPct val="132000"/>
              </a:lnSpc>
              <a:spcBef>
                <a:spcPts val="840"/>
              </a:spcBef>
            </a:pPr>
            <a:r>
              <a:rPr dirty="0" sz="1150">
                <a:solidFill>
                  <a:srgbClr val="E4DFDF"/>
                </a:solidFill>
                <a:latin typeface="Arial"/>
                <a:cs typeface="Arial"/>
              </a:rPr>
              <a:t>AI</a:t>
            </a:r>
            <a:r>
              <a:rPr dirty="0" sz="1150" spc="-5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E4DFDF"/>
                </a:solidFill>
                <a:latin typeface="Arial"/>
                <a:cs typeface="Arial"/>
              </a:rPr>
              <a:t>flags</a:t>
            </a:r>
            <a:r>
              <a:rPr dirty="0" sz="1150" spc="-5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1150" spc="-10">
                <a:solidFill>
                  <a:srgbClr val="E4DFDF"/>
                </a:solidFill>
                <a:latin typeface="Arial"/>
                <a:cs typeface="Arial"/>
              </a:rPr>
              <a:t>abnormal </a:t>
            </a:r>
            <a:r>
              <a:rPr dirty="0" sz="1150">
                <a:solidFill>
                  <a:srgbClr val="E4DFDF"/>
                </a:solidFill>
                <a:latin typeface="Arial"/>
                <a:cs typeface="Arial"/>
              </a:rPr>
              <a:t>values </a:t>
            </a:r>
            <a:r>
              <a:rPr dirty="0" sz="1150" spc="-25">
                <a:solidFill>
                  <a:srgbClr val="E4DFDF"/>
                </a:solidFill>
                <a:latin typeface="Arial"/>
                <a:cs typeface="Arial"/>
              </a:rPr>
              <a:t>and </a:t>
            </a:r>
            <a:r>
              <a:rPr dirty="0" sz="1150" spc="-10">
                <a:solidFill>
                  <a:srgbClr val="E4DFDF"/>
                </a:solidFill>
                <a:latin typeface="Arial"/>
                <a:cs typeface="Arial"/>
              </a:rPr>
              <a:t>recommends </a:t>
            </a:r>
            <a:r>
              <a:rPr dirty="0" sz="1150">
                <a:solidFill>
                  <a:srgbClr val="E4DFDF"/>
                </a:solidFill>
                <a:latin typeface="Arial"/>
                <a:cs typeface="Arial"/>
              </a:rPr>
              <a:t>consulting</a:t>
            </a:r>
            <a:r>
              <a:rPr dirty="0" sz="1150" spc="-45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1150" spc="-50">
                <a:solidFill>
                  <a:srgbClr val="E4DFDF"/>
                </a:solidFill>
                <a:latin typeface="Arial"/>
                <a:cs typeface="Arial"/>
              </a:rPr>
              <a:t>a </a:t>
            </a:r>
            <a:r>
              <a:rPr dirty="0" sz="1150" spc="-10">
                <a:solidFill>
                  <a:srgbClr val="E4DFDF"/>
                </a:solidFill>
                <a:latin typeface="Arial"/>
                <a:cs typeface="Arial"/>
              </a:rPr>
              <a:t>professional</a:t>
            </a:r>
            <a:endParaRPr sz="1150">
              <a:latin typeface="Arial"/>
              <a:cs typeface="Arial"/>
            </a:endParaRPr>
          </a:p>
        </p:txBody>
      </p:sp>
      <p:grpSp>
        <p:nvGrpSpPr>
          <p:cNvPr id="11" name="object 11" descr=""/>
          <p:cNvGrpSpPr/>
          <p:nvPr/>
        </p:nvGrpSpPr>
        <p:grpSpPr>
          <a:xfrm>
            <a:off x="6750621" y="1264373"/>
            <a:ext cx="1868170" cy="1927225"/>
            <a:chOff x="6750621" y="1264373"/>
            <a:chExt cx="1868170" cy="1927225"/>
          </a:xfrm>
        </p:grpSpPr>
        <p:sp>
          <p:nvSpPr>
            <p:cNvPr id="12" name="object 12" descr=""/>
            <p:cNvSpPr/>
            <p:nvPr/>
          </p:nvSpPr>
          <p:spPr>
            <a:xfrm>
              <a:off x="6760146" y="1273898"/>
              <a:ext cx="1849120" cy="1908175"/>
            </a:xfrm>
            <a:custGeom>
              <a:avLst/>
              <a:gdLst/>
              <a:ahLst/>
              <a:cxnLst/>
              <a:rect l="l" t="t" r="r" b="b"/>
              <a:pathLst>
                <a:path w="1849120" h="1908175">
                  <a:moveTo>
                    <a:pt x="1784794" y="0"/>
                  </a:moveTo>
                  <a:lnTo>
                    <a:pt x="63794" y="0"/>
                  </a:lnTo>
                  <a:lnTo>
                    <a:pt x="39062" y="5047"/>
                  </a:lnTo>
                  <a:lnTo>
                    <a:pt x="18773" y="18775"/>
                  </a:lnTo>
                  <a:lnTo>
                    <a:pt x="5046" y="39063"/>
                  </a:lnTo>
                  <a:lnTo>
                    <a:pt x="0" y="63792"/>
                  </a:lnTo>
                  <a:lnTo>
                    <a:pt x="0" y="1844027"/>
                  </a:lnTo>
                  <a:lnTo>
                    <a:pt x="5046" y="1868762"/>
                  </a:lnTo>
                  <a:lnTo>
                    <a:pt x="18773" y="1889055"/>
                  </a:lnTo>
                  <a:lnTo>
                    <a:pt x="39062" y="1902784"/>
                  </a:lnTo>
                  <a:lnTo>
                    <a:pt x="63794" y="1907832"/>
                  </a:lnTo>
                  <a:lnTo>
                    <a:pt x="1784794" y="1907832"/>
                  </a:lnTo>
                  <a:lnTo>
                    <a:pt x="1809530" y="1902784"/>
                  </a:lnTo>
                  <a:lnTo>
                    <a:pt x="1829822" y="1889055"/>
                  </a:lnTo>
                  <a:lnTo>
                    <a:pt x="1843551" y="1868762"/>
                  </a:lnTo>
                  <a:lnTo>
                    <a:pt x="1848599" y="1844027"/>
                  </a:lnTo>
                  <a:lnTo>
                    <a:pt x="1848599" y="63792"/>
                  </a:lnTo>
                  <a:lnTo>
                    <a:pt x="1843551" y="39063"/>
                  </a:lnTo>
                  <a:lnTo>
                    <a:pt x="1829822" y="18775"/>
                  </a:lnTo>
                  <a:lnTo>
                    <a:pt x="1809530" y="5047"/>
                  </a:lnTo>
                  <a:lnTo>
                    <a:pt x="1784794" y="0"/>
                  </a:lnTo>
                  <a:close/>
                </a:path>
              </a:pathLst>
            </a:custGeom>
            <a:solidFill>
              <a:srgbClr val="181617">
                <a:alpha val="949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6760146" y="1273898"/>
              <a:ext cx="1849120" cy="1908175"/>
            </a:xfrm>
            <a:custGeom>
              <a:avLst/>
              <a:gdLst/>
              <a:ahLst/>
              <a:cxnLst/>
              <a:rect l="l" t="t" r="r" b="b"/>
              <a:pathLst>
                <a:path w="1849120" h="1908175">
                  <a:moveTo>
                    <a:pt x="0" y="63792"/>
                  </a:moveTo>
                  <a:lnTo>
                    <a:pt x="5046" y="39063"/>
                  </a:lnTo>
                  <a:lnTo>
                    <a:pt x="18773" y="18775"/>
                  </a:lnTo>
                  <a:lnTo>
                    <a:pt x="39062" y="5047"/>
                  </a:lnTo>
                  <a:lnTo>
                    <a:pt x="63794" y="0"/>
                  </a:lnTo>
                  <a:lnTo>
                    <a:pt x="1784794" y="0"/>
                  </a:lnTo>
                  <a:lnTo>
                    <a:pt x="1809530" y="5047"/>
                  </a:lnTo>
                  <a:lnTo>
                    <a:pt x="1829822" y="18775"/>
                  </a:lnTo>
                  <a:lnTo>
                    <a:pt x="1843551" y="39063"/>
                  </a:lnTo>
                  <a:lnTo>
                    <a:pt x="1848599" y="63792"/>
                  </a:lnTo>
                  <a:lnTo>
                    <a:pt x="1848599" y="1844027"/>
                  </a:lnTo>
                  <a:lnTo>
                    <a:pt x="1843551" y="1868762"/>
                  </a:lnTo>
                  <a:lnTo>
                    <a:pt x="1829822" y="1889055"/>
                  </a:lnTo>
                  <a:lnTo>
                    <a:pt x="1809530" y="1902784"/>
                  </a:lnTo>
                  <a:lnTo>
                    <a:pt x="1784794" y="1907832"/>
                  </a:lnTo>
                  <a:lnTo>
                    <a:pt x="63794" y="1907832"/>
                  </a:lnTo>
                  <a:lnTo>
                    <a:pt x="39062" y="1902784"/>
                  </a:lnTo>
                  <a:lnTo>
                    <a:pt x="18773" y="1889055"/>
                  </a:lnTo>
                  <a:lnTo>
                    <a:pt x="5046" y="1868762"/>
                  </a:lnTo>
                  <a:lnTo>
                    <a:pt x="0" y="1844027"/>
                  </a:lnTo>
                  <a:lnTo>
                    <a:pt x="0" y="63792"/>
                  </a:lnTo>
                  <a:close/>
                </a:path>
              </a:pathLst>
            </a:custGeom>
            <a:ln w="19049">
              <a:solidFill>
                <a:srgbClr val="921F2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 descr=""/>
          <p:cNvSpPr txBox="1"/>
          <p:nvPr/>
        </p:nvSpPr>
        <p:spPr>
          <a:xfrm>
            <a:off x="6772194" y="1428635"/>
            <a:ext cx="1824989" cy="12560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58750">
              <a:lnSpc>
                <a:spcPct val="100000"/>
              </a:lnSpc>
              <a:spcBef>
                <a:spcPts val="100"/>
              </a:spcBef>
            </a:pPr>
            <a:r>
              <a:rPr dirty="0" sz="1300" spc="-10">
                <a:solidFill>
                  <a:srgbClr val="E4DFDF"/>
                </a:solidFill>
                <a:latin typeface="Arial"/>
                <a:cs typeface="Arial"/>
              </a:rPr>
              <a:t>Personalized</a:t>
            </a:r>
            <a:r>
              <a:rPr dirty="0" sz="1300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1300" spc="-20">
                <a:solidFill>
                  <a:srgbClr val="E4DFDF"/>
                </a:solidFill>
                <a:latin typeface="Arial"/>
                <a:cs typeface="Arial"/>
              </a:rPr>
              <a:t>Tips</a:t>
            </a:r>
            <a:endParaRPr sz="1300">
              <a:latin typeface="Arial"/>
              <a:cs typeface="Arial"/>
            </a:endParaRPr>
          </a:p>
          <a:p>
            <a:pPr marL="158750" marR="448945">
              <a:lnSpc>
                <a:spcPct val="132000"/>
              </a:lnSpc>
              <a:spcBef>
                <a:spcPts val="840"/>
              </a:spcBef>
            </a:pPr>
            <a:r>
              <a:rPr dirty="0" sz="1150">
                <a:solidFill>
                  <a:srgbClr val="E4DFDF"/>
                </a:solidFill>
                <a:latin typeface="Arial"/>
                <a:cs typeface="Arial"/>
              </a:rPr>
              <a:t>Lifestyle</a:t>
            </a:r>
            <a:r>
              <a:rPr dirty="0" sz="1150" spc="-40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1150" spc="-10">
                <a:solidFill>
                  <a:srgbClr val="E4DFDF"/>
                </a:solidFill>
                <a:latin typeface="Arial"/>
                <a:cs typeface="Arial"/>
              </a:rPr>
              <a:t>guidance: </a:t>
            </a:r>
            <a:r>
              <a:rPr dirty="0" sz="1150">
                <a:solidFill>
                  <a:srgbClr val="E4DFDF"/>
                </a:solidFill>
                <a:latin typeface="Arial"/>
                <a:cs typeface="Arial"/>
              </a:rPr>
              <a:t>hydration,</a:t>
            </a:r>
            <a:r>
              <a:rPr dirty="0" sz="1150" spc="-45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1150" spc="-10">
                <a:solidFill>
                  <a:srgbClr val="E4DFDF"/>
                </a:solidFill>
                <a:latin typeface="Arial"/>
                <a:cs typeface="Arial"/>
              </a:rPr>
              <a:t>diet, </a:t>
            </a:r>
            <a:r>
              <a:rPr dirty="0" sz="1150">
                <a:solidFill>
                  <a:srgbClr val="E4DFDF"/>
                </a:solidFill>
                <a:latin typeface="Arial"/>
                <a:cs typeface="Arial"/>
              </a:rPr>
              <a:t>exercise,</a:t>
            </a:r>
            <a:r>
              <a:rPr dirty="0" sz="1150" spc="-40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1150" spc="-10">
                <a:solidFill>
                  <a:srgbClr val="E4DFDF"/>
                </a:solidFill>
                <a:latin typeface="Arial"/>
                <a:cs typeface="Arial"/>
              </a:rPr>
              <a:t>routine checkups</a:t>
            </a:r>
            <a:endParaRPr sz="1150">
              <a:latin typeface="Arial"/>
              <a:cs typeface="Arial"/>
            </a:endParaRPr>
          </a:p>
        </p:txBody>
      </p:sp>
      <p:grpSp>
        <p:nvGrpSpPr>
          <p:cNvPr id="15" name="object 15" descr=""/>
          <p:cNvGrpSpPr/>
          <p:nvPr/>
        </p:nvGrpSpPr>
        <p:grpSpPr>
          <a:xfrm>
            <a:off x="4752530" y="3321697"/>
            <a:ext cx="3865879" cy="1203960"/>
            <a:chOff x="4752530" y="3321697"/>
            <a:chExt cx="3865879" cy="1203960"/>
          </a:xfrm>
        </p:grpSpPr>
        <p:sp>
          <p:nvSpPr>
            <p:cNvPr id="16" name="object 16" descr=""/>
            <p:cNvSpPr/>
            <p:nvPr/>
          </p:nvSpPr>
          <p:spPr>
            <a:xfrm>
              <a:off x="4762055" y="3331222"/>
              <a:ext cx="3846829" cy="1184910"/>
            </a:xfrm>
            <a:custGeom>
              <a:avLst/>
              <a:gdLst/>
              <a:ahLst/>
              <a:cxnLst/>
              <a:rect l="l" t="t" r="r" b="b"/>
              <a:pathLst>
                <a:path w="3846829" h="1184910">
                  <a:moveTo>
                    <a:pt x="3782885" y="0"/>
                  </a:moveTo>
                  <a:lnTo>
                    <a:pt x="63798" y="0"/>
                  </a:lnTo>
                  <a:lnTo>
                    <a:pt x="39064" y="5047"/>
                  </a:lnTo>
                  <a:lnTo>
                    <a:pt x="18774" y="18775"/>
                  </a:lnTo>
                  <a:lnTo>
                    <a:pt x="5046" y="39063"/>
                  </a:lnTo>
                  <a:lnTo>
                    <a:pt x="0" y="63792"/>
                  </a:lnTo>
                  <a:lnTo>
                    <a:pt x="0" y="1120724"/>
                  </a:lnTo>
                  <a:lnTo>
                    <a:pt x="5046" y="1145457"/>
                  </a:lnTo>
                  <a:lnTo>
                    <a:pt x="18774" y="1165745"/>
                  </a:lnTo>
                  <a:lnTo>
                    <a:pt x="39064" y="1179470"/>
                  </a:lnTo>
                  <a:lnTo>
                    <a:pt x="63798" y="1184516"/>
                  </a:lnTo>
                  <a:lnTo>
                    <a:pt x="3782885" y="1184516"/>
                  </a:lnTo>
                  <a:lnTo>
                    <a:pt x="3807621" y="1179470"/>
                  </a:lnTo>
                  <a:lnTo>
                    <a:pt x="3827913" y="1165745"/>
                  </a:lnTo>
                  <a:lnTo>
                    <a:pt x="3841642" y="1145457"/>
                  </a:lnTo>
                  <a:lnTo>
                    <a:pt x="3846690" y="1120724"/>
                  </a:lnTo>
                  <a:lnTo>
                    <a:pt x="3846690" y="63792"/>
                  </a:lnTo>
                  <a:lnTo>
                    <a:pt x="3841642" y="39063"/>
                  </a:lnTo>
                  <a:lnTo>
                    <a:pt x="3827913" y="18775"/>
                  </a:lnTo>
                  <a:lnTo>
                    <a:pt x="3807621" y="5047"/>
                  </a:lnTo>
                  <a:lnTo>
                    <a:pt x="3782885" y="0"/>
                  </a:lnTo>
                  <a:close/>
                </a:path>
              </a:pathLst>
            </a:custGeom>
            <a:solidFill>
              <a:srgbClr val="181617">
                <a:alpha val="949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4762055" y="3331222"/>
              <a:ext cx="3846829" cy="1184910"/>
            </a:xfrm>
            <a:custGeom>
              <a:avLst/>
              <a:gdLst/>
              <a:ahLst/>
              <a:cxnLst/>
              <a:rect l="l" t="t" r="r" b="b"/>
              <a:pathLst>
                <a:path w="3846829" h="1184910">
                  <a:moveTo>
                    <a:pt x="0" y="63792"/>
                  </a:moveTo>
                  <a:lnTo>
                    <a:pt x="5046" y="39063"/>
                  </a:lnTo>
                  <a:lnTo>
                    <a:pt x="18774" y="18775"/>
                  </a:lnTo>
                  <a:lnTo>
                    <a:pt x="39064" y="5047"/>
                  </a:lnTo>
                  <a:lnTo>
                    <a:pt x="63798" y="0"/>
                  </a:lnTo>
                  <a:lnTo>
                    <a:pt x="3782885" y="0"/>
                  </a:lnTo>
                  <a:lnTo>
                    <a:pt x="3807621" y="5047"/>
                  </a:lnTo>
                  <a:lnTo>
                    <a:pt x="3827913" y="18775"/>
                  </a:lnTo>
                  <a:lnTo>
                    <a:pt x="3841642" y="39063"/>
                  </a:lnTo>
                  <a:lnTo>
                    <a:pt x="3846690" y="63792"/>
                  </a:lnTo>
                  <a:lnTo>
                    <a:pt x="3846690" y="1120724"/>
                  </a:lnTo>
                  <a:lnTo>
                    <a:pt x="3841642" y="1145457"/>
                  </a:lnTo>
                  <a:lnTo>
                    <a:pt x="3827913" y="1165745"/>
                  </a:lnTo>
                  <a:lnTo>
                    <a:pt x="3807621" y="1179470"/>
                  </a:lnTo>
                  <a:lnTo>
                    <a:pt x="3782885" y="1184516"/>
                  </a:lnTo>
                  <a:lnTo>
                    <a:pt x="63798" y="1184516"/>
                  </a:lnTo>
                  <a:lnTo>
                    <a:pt x="39064" y="1179470"/>
                  </a:lnTo>
                  <a:lnTo>
                    <a:pt x="18774" y="1165745"/>
                  </a:lnTo>
                  <a:lnTo>
                    <a:pt x="5046" y="1145457"/>
                  </a:lnTo>
                  <a:lnTo>
                    <a:pt x="0" y="1120724"/>
                  </a:lnTo>
                  <a:lnTo>
                    <a:pt x="0" y="63792"/>
                  </a:lnTo>
                  <a:close/>
                </a:path>
              </a:pathLst>
            </a:custGeom>
            <a:ln w="19049">
              <a:solidFill>
                <a:srgbClr val="921F2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 descr=""/>
          <p:cNvSpPr txBox="1"/>
          <p:nvPr/>
        </p:nvSpPr>
        <p:spPr>
          <a:xfrm>
            <a:off x="4774103" y="3485959"/>
            <a:ext cx="3822700" cy="7931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58750">
              <a:lnSpc>
                <a:spcPct val="100000"/>
              </a:lnSpc>
              <a:spcBef>
                <a:spcPts val="100"/>
              </a:spcBef>
            </a:pPr>
            <a:r>
              <a:rPr dirty="0" sz="1300">
                <a:solidFill>
                  <a:srgbClr val="E4DFDF"/>
                </a:solidFill>
                <a:latin typeface="Arial"/>
                <a:cs typeface="Arial"/>
              </a:rPr>
              <a:t>Doctor</a:t>
            </a:r>
            <a:r>
              <a:rPr dirty="0" sz="1300" spc="-35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E4DFDF"/>
                </a:solidFill>
                <a:latin typeface="Arial"/>
                <a:cs typeface="Arial"/>
              </a:rPr>
              <a:t>Visit</a:t>
            </a:r>
            <a:r>
              <a:rPr dirty="0" sz="1300" spc="-35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E4DFDF"/>
                </a:solidFill>
                <a:latin typeface="Arial"/>
                <a:cs typeface="Arial"/>
              </a:rPr>
              <a:t>Notes</a:t>
            </a:r>
            <a:endParaRPr sz="1300">
              <a:latin typeface="Arial"/>
              <a:cs typeface="Arial"/>
            </a:endParaRPr>
          </a:p>
          <a:p>
            <a:pPr marL="158750" marR="338455">
              <a:lnSpc>
                <a:spcPct val="132000"/>
              </a:lnSpc>
              <a:spcBef>
                <a:spcPts val="840"/>
              </a:spcBef>
            </a:pPr>
            <a:r>
              <a:rPr dirty="0" sz="1150">
                <a:solidFill>
                  <a:srgbClr val="E4DFDF"/>
                </a:solidFill>
                <a:latin typeface="Arial"/>
                <a:cs typeface="Arial"/>
              </a:rPr>
              <a:t>Save</a:t>
            </a:r>
            <a:r>
              <a:rPr dirty="0" sz="1150" spc="-15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E4DFDF"/>
                </a:solidFill>
                <a:latin typeface="Arial"/>
                <a:cs typeface="Arial"/>
              </a:rPr>
              <a:t>advice,</a:t>
            </a:r>
            <a:r>
              <a:rPr dirty="0" sz="1150" spc="-10">
                <a:solidFill>
                  <a:srgbClr val="E4DFDF"/>
                </a:solidFill>
                <a:latin typeface="Arial"/>
                <a:cs typeface="Arial"/>
              </a:rPr>
              <a:t> symptoms, treatment</a:t>
            </a:r>
            <a:r>
              <a:rPr dirty="0" sz="1150" spc="-15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E4DFDF"/>
                </a:solidFill>
                <a:latin typeface="Arial"/>
                <a:cs typeface="Arial"/>
              </a:rPr>
              <a:t>plans</a:t>
            </a:r>
            <a:r>
              <a:rPr dirty="0" sz="1150" spc="-10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E4DFDF"/>
                </a:solidFill>
                <a:latin typeface="Arial"/>
                <a:cs typeface="Arial"/>
              </a:rPr>
              <a:t>after</a:t>
            </a:r>
            <a:r>
              <a:rPr dirty="0" sz="1150" spc="-10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1150" spc="-20">
                <a:solidFill>
                  <a:srgbClr val="E4DFDF"/>
                </a:solidFill>
                <a:latin typeface="Arial"/>
                <a:cs typeface="Arial"/>
              </a:rPr>
              <a:t>each </a:t>
            </a:r>
            <a:r>
              <a:rPr dirty="0" sz="1150" spc="-10">
                <a:solidFill>
                  <a:srgbClr val="E4DFDF"/>
                </a:solidFill>
                <a:latin typeface="Arial"/>
                <a:cs typeface="Arial"/>
              </a:rPr>
              <a:t>consultation</a:t>
            </a:r>
            <a:endParaRPr sz="11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29181" y="4844491"/>
            <a:ext cx="1071843" cy="25603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27323" y="408152"/>
            <a:ext cx="1741805" cy="2844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/>
              <a:t>Technology</a:t>
            </a:r>
            <a:r>
              <a:rPr dirty="0" sz="1700" spc="-80"/>
              <a:t> </a:t>
            </a:r>
            <a:r>
              <a:rPr dirty="0" sz="1700" spc="-10"/>
              <a:t>Stack</a:t>
            </a:r>
            <a:endParaRPr sz="1700"/>
          </a:p>
        </p:txBody>
      </p:sp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40023" y="826665"/>
            <a:ext cx="8063953" cy="3690416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6434201" y="1264175"/>
            <a:ext cx="1834514" cy="631190"/>
          </a:xfrm>
          <a:prstGeom prst="rect">
            <a:avLst/>
          </a:prstGeom>
        </p:spPr>
        <p:txBody>
          <a:bodyPr wrap="square" lIns="0" tIns="711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60"/>
              </a:spcBef>
            </a:pPr>
            <a:r>
              <a:rPr dirty="0" sz="1200">
                <a:solidFill>
                  <a:srgbClr val="E4DFDF"/>
                </a:solidFill>
                <a:latin typeface="Arial"/>
                <a:cs typeface="Arial"/>
              </a:rPr>
              <a:t>Frontend</a:t>
            </a:r>
            <a:r>
              <a:rPr dirty="0" sz="1200" spc="-20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E4DFDF"/>
                </a:solidFill>
                <a:latin typeface="Arial"/>
                <a:cs typeface="Arial"/>
              </a:rPr>
              <a:t>&amp;</a:t>
            </a:r>
            <a:r>
              <a:rPr dirty="0" sz="1200" spc="-20">
                <a:solidFill>
                  <a:srgbClr val="E4DFDF"/>
                </a:solidFill>
                <a:latin typeface="Arial"/>
                <a:cs typeface="Arial"/>
              </a:rPr>
              <a:t> Data</a:t>
            </a:r>
            <a:endParaRPr sz="1200">
              <a:latin typeface="Arial"/>
              <a:cs typeface="Arial"/>
            </a:endParaRPr>
          </a:p>
          <a:p>
            <a:pPr marL="12700" marR="5080">
              <a:lnSpc>
                <a:spcPts val="1120"/>
              </a:lnSpc>
              <a:spcBef>
                <a:spcPts val="630"/>
              </a:spcBef>
            </a:pPr>
            <a:r>
              <a:rPr dirty="0" sz="1100">
                <a:solidFill>
                  <a:srgbClr val="E4DFDF"/>
                </a:solidFill>
                <a:latin typeface="Arial"/>
                <a:cs typeface="Arial"/>
              </a:rPr>
              <a:t>React</a:t>
            </a:r>
            <a:r>
              <a:rPr dirty="0" sz="1100" spc="-25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E4DFDF"/>
                </a:solidFill>
                <a:latin typeface="Arial"/>
                <a:cs typeface="Arial"/>
              </a:rPr>
              <a:t>UI</a:t>
            </a:r>
            <a:r>
              <a:rPr dirty="0" sz="1100" spc="-20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E4DFDF"/>
                </a:solidFill>
                <a:latin typeface="Arial"/>
                <a:cs typeface="Arial"/>
              </a:rPr>
              <a:t>with</a:t>
            </a:r>
            <a:r>
              <a:rPr dirty="0" sz="1100" spc="-25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E4DFDF"/>
                </a:solidFill>
                <a:latin typeface="Arial"/>
                <a:cs typeface="Arial"/>
              </a:rPr>
              <a:t>Supabase</a:t>
            </a:r>
            <a:r>
              <a:rPr dirty="0" sz="1100" spc="-20">
                <a:solidFill>
                  <a:srgbClr val="E4DFDF"/>
                </a:solidFill>
                <a:latin typeface="Arial"/>
                <a:cs typeface="Arial"/>
              </a:rPr>
              <a:t> auth </a:t>
            </a:r>
            <a:r>
              <a:rPr dirty="0" sz="1100">
                <a:solidFill>
                  <a:srgbClr val="E4DFDF"/>
                </a:solidFill>
                <a:latin typeface="Arial"/>
                <a:cs typeface="Arial"/>
              </a:rPr>
              <a:t>and</a:t>
            </a:r>
            <a:r>
              <a:rPr dirty="0" sz="1100" spc="-30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1100" spc="-25">
                <a:solidFill>
                  <a:srgbClr val="E4DFDF"/>
                </a:solidFill>
                <a:latin typeface="Arial"/>
                <a:cs typeface="Arial"/>
              </a:rPr>
              <a:t>DB</a:t>
            </a:r>
            <a:endParaRPr sz="1100">
              <a:latin typeface="Arial"/>
              <a:cs typeface="Arial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1066064" y="2477177"/>
            <a:ext cx="1485900" cy="631190"/>
          </a:xfrm>
          <a:prstGeom prst="rect">
            <a:avLst/>
          </a:prstGeom>
        </p:spPr>
        <p:txBody>
          <a:bodyPr wrap="square" lIns="0" tIns="71120" rIns="0" bIns="0" rtlCol="0" vert="horz">
            <a:spAutoFit/>
          </a:bodyPr>
          <a:lstStyle/>
          <a:p>
            <a:pPr algn="r" marR="5080">
              <a:lnSpc>
                <a:spcPct val="100000"/>
              </a:lnSpc>
              <a:spcBef>
                <a:spcPts val="560"/>
              </a:spcBef>
            </a:pPr>
            <a:r>
              <a:rPr dirty="0" sz="1200">
                <a:solidFill>
                  <a:srgbClr val="E4DFDF"/>
                </a:solidFill>
                <a:latin typeface="Arial"/>
                <a:cs typeface="Arial"/>
              </a:rPr>
              <a:t>Backend</a:t>
            </a:r>
            <a:r>
              <a:rPr dirty="0" sz="1200" spc="-25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E4DFDF"/>
                </a:solidFill>
                <a:latin typeface="Arial"/>
                <a:cs typeface="Arial"/>
              </a:rPr>
              <a:t>Services</a:t>
            </a:r>
            <a:endParaRPr sz="1200">
              <a:latin typeface="Arial"/>
              <a:cs typeface="Arial"/>
            </a:endParaRPr>
          </a:p>
          <a:p>
            <a:pPr algn="r" marR="5080">
              <a:lnSpc>
                <a:spcPts val="1220"/>
              </a:lnSpc>
              <a:spcBef>
                <a:spcPts val="425"/>
              </a:spcBef>
            </a:pPr>
            <a:r>
              <a:rPr dirty="0" sz="1100">
                <a:solidFill>
                  <a:srgbClr val="E4DFDF"/>
                </a:solidFill>
                <a:latin typeface="Arial"/>
                <a:cs typeface="Arial"/>
              </a:rPr>
              <a:t>Node.js</a:t>
            </a:r>
            <a:r>
              <a:rPr dirty="0" sz="1100" spc="-20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E4DFDF"/>
                </a:solidFill>
                <a:latin typeface="Arial"/>
                <a:cs typeface="Arial"/>
              </a:rPr>
              <a:t>processing</a:t>
            </a:r>
            <a:r>
              <a:rPr dirty="0" sz="1100" spc="-20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1100" spc="-25">
                <a:solidFill>
                  <a:srgbClr val="E4DFDF"/>
                </a:solidFill>
                <a:latin typeface="Arial"/>
                <a:cs typeface="Arial"/>
              </a:rPr>
              <a:t>and</a:t>
            </a:r>
            <a:endParaRPr sz="1100">
              <a:latin typeface="Arial"/>
              <a:cs typeface="Arial"/>
            </a:endParaRPr>
          </a:p>
          <a:p>
            <a:pPr algn="r" marR="5080">
              <a:lnSpc>
                <a:spcPts val="1220"/>
              </a:lnSpc>
            </a:pPr>
            <a:r>
              <a:rPr dirty="0" sz="1100" spc="-10">
                <a:solidFill>
                  <a:srgbClr val="E4DFDF"/>
                </a:solidFill>
                <a:latin typeface="Arial"/>
                <a:cs typeface="Arial"/>
              </a:rPr>
              <a:t>reminders</a:t>
            </a:r>
            <a:endParaRPr sz="1100">
              <a:latin typeface="Arial"/>
              <a:cs typeface="Arial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6434201" y="3103517"/>
            <a:ext cx="1725295" cy="631190"/>
          </a:xfrm>
          <a:prstGeom prst="rect">
            <a:avLst/>
          </a:prstGeom>
        </p:spPr>
        <p:txBody>
          <a:bodyPr wrap="square" lIns="0" tIns="711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60"/>
              </a:spcBef>
            </a:pPr>
            <a:r>
              <a:rPr dirty="0" sz="1200">
                <a:solidFill>
                  <a:srgbClr val="E4DFDF"/>
                </a:solidFill>
                <a:latin typeface="Arial"/>
                <a:cs typeface="Arial"/>
              </a:rPr>
              <a:t>Core</a:t>
            </a:r>
            <a:r>
              <a:rPr dirty="0" sz="1200" spc="-25">
                <a:solidFill>
                  <a:srgbClr val="E4DFDF"/>
                </a:solidFill>
                <a:latin typeface="Arial"/>
                <a:cs typeface="Arial"/>
              </a:rPr>
              <a:t> AI</a:t>
            </a:r>
            <a:endParaRPr sz="1200">
              <a:latin typeface="Arial"/>
              <a:cs typeface="Arial"/>
            </a:endParaRPr>
          </a:p>
          <a:p>
            <a:pPr marL="12700" marR="5080">
              <a:lnSpc>
                <a:spcPts val="1120"/>
              </a:lnSpc>
              <a:spcBef>
                <a:spcPts val="630"/>
              </a:spcBef>
            </a:pPr>
            <a:r>
              <a:rPr dirty="0" sz="1100">
                <a:solidFill>
                  <a:srgbClr val="E4DFDF"/>
                </a:solidFill>
                <a:latin typeface="Arial"/>
                <a:cs typeface="Arial"/>
              </a:rPr>
              <a:t>Medical</a:t>
            </a:r>
            <a:r>
              <a:rPr dirty="0" sz="1100" spc="-45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E4DFDF"/>
                </a:solidFill>
                <a:latin typeface="Arial"/>
                <a:cs typeface="Arial"/>
              </a:rPr>
              <a:t>report</a:t>
            </a:r>
            <a:r>
              <a:rPr dirty="0" sz="1100" spc="-45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E4DFDF"/>
                </a:solidFill>
                <a:latin typeface="Arial"/>
                <a:cs typeface="Arial"/>
              </a:rPr>
              <a:t>analysis</a:t>
            </a:r>
            <a:r>
              <a:rPr dirty="0" sz="1100" spc="-45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1100" spc="-25">
                <a:solidFill>
                  <a:srgbClr val="E4DFDF"/>
                </a:solidFill>
                <a:latin typeface="Arial"/>
                <a:cs typeface="Arial"/>
              </a:rPr>
              <a:t>and </a:t>
            </a:r>
            <a:r>
              <a:rPr dirty="0" sz="1100" spc="-10">
                <a:solidFill>
                  <a:srgbClr val="E4DFDF"/>
                </a:solidFill>
                <a:latin typeface="Arial"/>
                <a:cs typeface="Arial"/>
              </a:rPr>
              <a:t>insights</a:t>
            </a:r>
            <a:endParaRPr sz="1100">
              <a:latin typeface="Arial"/>
              <a:cs typeface="Arial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527323" y="4573574"/>
            <a:ext cx="3650615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>
                <a:solidFill>
                  <a:srgbClr val="E4DFDF"/>
                </a:solidFill>
                <a:latin typeface="Arial"/>
                <a:cs typeface="Arial"/>
              </a:rPr>
              <a:t>Modern</a:t>
            </a:r>
            <a:r>
              <a:rPr dirty="0" sz="750" spc="-20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E4DFDF"/>
                </a:solidFill>
                <a:latin typeface="Arial"/>
                <a:cs typeface="Arial"/>
              </a:rPr>
              <a:t>technologies</a:t>
            </a:r>
            <a:r>
              <a:rPr dirty="0" sz="750" spc="-20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E4DFDF"/>
                </a:solidFill>
                <a:latin typeface="Arial"/>
                <a:cs typeface="Arial"/>
              </a:rPr>
              <a:t>ensuring</a:t>
            </a:r>
            <a:r>
              <a:rPr dirty="0" sz="750" spc="-15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E4DFDF"/>
                </a:solidFill>
                <a:latin typeface="Arial"/>
                <a:cs typeface="Arial"/>
              </a:rPr>
              <a:t>a</a:t>
            </a:r>
            <a:r>
              <a:rPr dirty="0" sz="750" spc="-20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E4DFDF"/>
                </a:solidFill>
                <a:latin typeface="Arial"/>
                <a:cs typeface="Arial"/>
              </a:rPr>
              <a:t>secure,</a:t>
            </a:r>
            <a:r>
              <a:rPr dirty="0" sz="750" spc="-20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E4DFDF"/>
                </a:solidFill>
                <a:latin typeface="Arial"/>
                <a:cs typeface="Arial"/>
              </a:rPr>
              <a:t>fast,</a:t>
            </a:r>
            <a:r>
              <a:rPr dirty="0" sz="750" spc="-15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E4DFDF"/>
                </a:solidFill>
                <a:latin typeface="Arial"/>
                <a:cs typeface="Arial"/>
              </a:rPr>
              <a:t>and</a:t>
            </a:r>
            <a:r>
              <a:rPr dirty="0" sz="750" spc="-20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E4DFDF"/>
                </a:solidFill>
                <a:latin typeface="Arial"/>
                <a:cs typeface="Arial"/>
              </a:rPr>
              <a:t>user-friendly</a:t>
            </a:r>
            <a:r>
              <a:rPr dirty="0" sz="750" spc="-15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E4DFDF"/>
                </a:solidFill>
                <a:latin typeface="Arial"/>
                <a:cs typeface="Arial"/>
              </a:rPr>
              <a:t>healthcare</a:t>
            </a:r>
            <a:r>
              <a:rPr dirty="0" sz="750" spc="-20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750" spc="-10">
                <a:solidFill>
                  <a:srgbClr val="E4DFDF"/>
                </a:solidFill>
                <a:latin typeface="Arial"/>
                <a:cs typeface="Arial"/>
              </a:rPr>
              <a:t>experience.</a:t>
            </a:r>
            <a:endParaRPr sz="7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object 3" descr=""/>
          <p:cNvSpPr/>
          <p:nvPr/>
        </p:nvSpPr>
        <p:spPr>
          <a:xfrm>
            <a:off x="540023" y="629841"/>
            <a:ext cx="1031875" cy="290195"/>
          </a:xfrm>
          <a:custGeom>
            <a:avLst/>
            <a:gdLst/>
            <a:ahLst/>
            <a:cxnLst/>
            <a:rect l="l" t="t" r="r" b="b"/>
            <a:pathLst>
              <a:path w="1031875" h="290194">
                <a:moveTo>
                  <a:pt x="979681" y="0"/>
                </a:moveTo>
                <a:lnTo>
                  <a:pt x="51846" y="0"/>
                </a:lnTo>
                <a:lnTo>
                  <a:pt x="31746" y="4101"/>
                </a:lnTo>
                <a:lnTo>
                  <a:pt x="15257" y="15257"/>
                </a:lnTo>
                <a:lnTo>
                  <a:pt x="4101" y="31745"/>
                </a:lnTo>
                <a:lnTo>
                  <a:pt x="0" y="51841"/>
                </a:lnTo>
                <a:lnTo>
                  <a:pt x="0" y="238213"/>
                </a:lnTo>
                <a:lnTo>
                  <a:pt x="4101" y="258317"/>
                </a:lnTo>
                <a:lnTo>
                  <a:pt x="15257" y="274808"/>
                </a:lnTo>
                <a:lnTo>
                  <a:pt x="31746" y="285966"/>
                </a:lnTo>
                <a:lnTo>
                  <a:pt x="51846" y="290067"/>
                </a:lnTo>
                <a:lnTo>
                  <a:pt x="979681" y="290067"/>
                </a:lnTo>
                <a:lnTo>
                  <a:pt x="999781" y="285966"/>
                </a:lnTo>
                <a:lnTo>
                  <a:pt x="1016270" y="274808"/>
                </a:lnTo>
                <a:lnTo>
                  <a:pt x="1027426" y="258317"/>
                </a:lnTo>
                <a:lnTo>
                  <a:pt x="1031528" y="238213"/>
                </a:lnTo>
                <a:lnTo>
                  <a:pt x="1031528" y="51841"/>
                </a:lnTo>
                <a:lnTo>
                  <a:pt x="1027426" y="31745"/>
                </a:lnTo>
                <a:lnTo>
                  <a:pt x="1016270" y="15257"/>
                </a:lnTo>
                <a:lnTo>
                  <a:pt x="999781" y="4101"/>
                </a:lnTo>
                <a:lnTo>
                  <a:pt x="979681" y="0"/>
                </a:lnTo>
                <a:close/>
              </a:path>
            </a:pathLst>
          </a:custGeom>
          <a:solidFill>
            <a:srgbClr val="47040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619893" y="660873"/>
            <a:ext cx="969644" cy="1701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50">
                <a:solidFill>
                  <a:srgbClr val="E4DFDF"/>
                </a:solidFill>
                <a:latin typeface="Arial"/>
                <a:cs typeface="Arial"/>
              </a:rPr>
              <a:t>FUTURE</a:t>
            </a:r>
            <a:r>
              <a:rPr dirty="0" sz="950" spc="-25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950" spc="-10">
                <a:solidFill>
                  <a:srgbClr val="E4DFDF"/>
                </a:solidFill>
                <a:latin typeface="Arial"/>
                <a:cs typeface="Arial"/>
              </a:rPr>
              <a:t>SCOPE</a:t>
            </a:r>
            <a:endParaRPr sz="95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27323" y="961644"/>
            <a:ext cx="2618105" cy="4368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The</a:t>
            </a:r>
            <a:r>
              <a:rPr dirty="0" spc="-20"/>
              <a:t> </a:t>
            </a:r>
            <a:r>
              <a:rPr dirty="0"/>
              <a:t>Road</a:t>
            </a:r>
            <a:r>
              <a:rPr dirty="0" spc="-20"/>
              <a:t> </a:t>
            </a:r>
            <a:r>
              <a:rPr dirty="0" spc="-10"/>
              <a:t>Ahead</a:t>
            </a:r>
          </a:p>
        </p:txBody>
      </p:sp>
      <p:grpSp>
        <p:nvGrpSpPr>
          <p:cNvPr id="6" name="object 6" descr=""/>
          <p:cNvGrpSpPr/>
          <p:nvPr/>
        </p:nvGrpSpPr>
        <p:grpSpPr>
          <a:xfrm>
            <a:off x="535260" y="1636890"/>
            <a:ext cx="1452245" cy="1845945"/>
            <a:chOff x="535260" y="1636890"/>
            <a:chExt cx="1452245" cy="1845945"/>
          </a:xfrm>
        </p:grpSpPr>
        <p:sp>
          <p:nvSpPr>
            <p:cNvPr id="7" name="object 7" descr=""/>
            <p:cNvSpPr/>
            <p:nvPr/>
          </p:nvSpPr>
          <p:spPr>
            <a:xfrm>
              <a:off x="540023" y="1641652"/>
              <a:ext cx="1442720" cy="1836420"/>
            </a:xfrm>
            <a:custGeom>
              <a:avLst/>
              <a:gdLst/>
              <a:ahLst/>
              <a:cxnLst/>
              <a:rect l="l" t="t" r="r" b="b"/>
              <a:pathLst>
                <a:path w="1442720" h="1836420">
                  <a:moveTo>
                    <a:pt x="1377340" y="0"/>
                  </a:moveTo>
                  <a:lnTo>
                    <a:pt x="64809" y="0"/>
                  </a:lnTo>
                  <a:lnTo>
                    <a:pt x="39684" y="5127"/>
                  </a:lnTo>
                  <a:lnTo>
                    <a:pt x="19072" y="19073"/>
                  </a:lnTo>
                  <a:lnTo>
                    <a:pt x="5126" y="39685"/>
                  </a:lnTo>
                  <a:lnTo>
                    <a:pt x="0" y="64808"/>
                  </a:lnTo>
                  <a:lnTo>
                    <a:pt x="0" y="1771573"/>
                  </a:lnTo>
                  <a:lnTo>
                    <a:pt x="5126" y="1796703"/>
                  </a:lnTo>
                  <a:lnTo>
                    <a:pt x="19072" y="1817319"/>
                  </a:lnTo>
                  <a:lnTo>
                    <a:pt x="39684" y="1831266"/>
                  </a:lnTo>
                  <a:lnTo>
                    <a:pt x="64809" y="1836394"/>
                  </a:lnTo>
                  <a:lnTo>
                    <a:pt x="1377340" y="1836394"/>
                  </a:lnTo>
                  <a:lnTo>
                    <a:pt x="1402463" y="1831266"/>
                  </a:lnTo>
                  <a:lnTo>
                    <a:pt x="1423074" y="1817319"/>
                  </a:lnTo>
                  <a:lnTo>
                    <a:pt x="1437021" y="1796703"/>
                  </a:lnTo>
                  <a:lnTo>
                    <a:pt x="1442148" y="1771573"/>
                  </a:lnTo>
                  <a:lnTo>
                    <a:pt x="1442148" y="64808"/>
                  </a:lnTo>
                  <a:lnTo>
                    <a:pt x="1437021" y="39685"/>
                  </a:lnTo>
                  <a:lnTo>
                    <a:pt x="1423074" y="19073"/>
                  </a:lnTo>
                  <a:lnTo>
                    <a:pt x="1402463" y="5127"/>
                  </a:lnTo>
                  <a:lnTo>
                    <a:pt x="1377340" y="0"/>
                  </a:lnTo>
                  <a:close/>
                </a:path>
              </a:pathLst>
            </a:custGeom>
            <a:solidFill>
              <a:srgbClr val="79060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540023" y="1641652"/>
              <a:ext cx="1442720" cy="1836420"/>
            </a:xfrm>
            <a:custGeom>
              <a:avLst/>
              <a:gdLst/>
              <a:ahLst/>
              <a:cxnLst/>
              <a:rect l="l" t="t" r="r" b="b"/>
              <a:pathLst>
                <a:path w="1442720" h="1836420">
                  <a:moveTo>
                    <a:pt x="0" y="64808"/>
                  </a:moveTo>
                  <a:lnTo>
                    <a:pt x="5126" y="39685"/>
                  </a:lnTo>
                  <a:lnTo>
                    <a:pt x="19072" y="19073"/>
                  </a:lnTo>
                  <a:lnTo>
                    <a:pt x="39684" y="5127"/>
                  </a:lnTo>
                  <a:lnTo>
                    <a:pt x="64809" y="0"/>
                  </a:lnTo>
                  <a:lnTo>
                    <a:pt x="1377340" y="0"/>
                  </a:lnTo>
                  <a:lnTo>
                    <a:pt x="1402463" y="5127"/>
                  </a:lnTo>
                  <a:lnTo>
                    <a:pt x="1423074" y="19073"/>
                  </a:lnTo>
                  <a:lnTo>
                    <a:pt x="1437021" y="39685"/>
                  </a:lnTo>
                  <a:lnTo>
                    <a:pt x="1442148" y="64808"/>
                  </a:lnTo>
                  <a:lnTo>
                    <a:pt x="1442148" y="1771573"/>
                  </a:lnTo>
                  <a:lnTo>
                    <a:pt x="1437021" y="1796703"/>
                  </a:lnTo>
                  <a:lnTo>
                    <a:pt x="1423074" y="1817319"/>
                  </a:lnTo>
                  <a:lnTo>
                    <a:pt x="1402463" y="1831266"/>
                  </a:lnTo>
                  <a:lnTo>
                    <a:pt x="1377340" y="1836394"/>
                  </a:lnTo>
                  <a:lnTo>
                    <a:pt x="64809" y="1836394"/>
                  </a:lnTo>
                  <a:lnTo>
                    <a:pt x="39684" y="1831266"/>
                  </a:lnTo>
                  <a:lnTo>
                    <a:pt x="19072" y="1817319"/>
                  </a:lnTo>
                  <a:lnTo>
                    <a:pt x="5126" y="1796703"/>
                  </a:lnTo>
                  <a:lnTo>
                    <a:pt x="0" y="1771573"/>
                  </a:lnTo>
                  <a:lnTo>
                    <a:pt x="0" y="64808"/>
                  </a:lnTo>
                  <a:close/>
                </a:path>
              </a:pathLst>
            </a:custGeom>
            <a:ln w="9524">
              <a:solidFill>
                <a:srgbClr val="921F2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 descr=""/>
          <p:cNvSpPr txBox="1"/>
          <p:nvPr/>
        </p:nvSpPr>
        <p:spPr>
          <a:xfrm>
            <a:off x="691108" y="1674856"/>
            <a:ext cx="1084580" cy="1359535"/>
          </a:xfrm>
          <a:prstGeom prst="rect">
            <a:avLst/>
          </a:prstGeom>
        </p:spPr>
        <p:txBody>
          <a:bodyPr wrap="square" lIns="0" tIns="1270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0"/>
              </a:spcBef>
            </a:pPr>
            <a:r>
              <a:rPr dirty="0" sz="1350" spc="-10">
                <a:solidFill>
                  <a:srgbClr val="E4DFDF"/>
                </a:solidFill>
                <a:latin typeface="Arial"/>
                <a:cs typeface="Arial"/>
              </a:rPr>
              <a:t>Telemedicine</a:t>
            </a:r>
            <a:endParaRPr sz="1350">
              <a:latin typeface="Arial"/>
              <a:cs typeface="Arial"/>
            </a:endParaRPr>
          </a:p>
          <a:p>
            <a:pPr marL="12700" marR="5080">
              <a:lnSpc>
                <a:spcPct val="133000"/>
              </a:lnSpc>
              <a:spcBef>
                <a:spcPts val="320"/>
              </a:spcBef>
            </a:pPr>
            <a:r>
              <a:rPr dirty="0" sz="1200" spc="-10">
                <a:solidFill>
                  <a:srgbClr val="E4DFDF"/>
                </a:solidFill>
                <a:latin typeface="Arial"/>
                <a:cs typeface="Arial"/>
              </a:rPr>
              <a:t>Online </a:t>
            </a:r>
            <a:r>
              <a:rPr dirty="0" sz="1200">
                <a:solidFill>
                  <a:srgbClr val="E4DFDF"/>
                </a:solidFill>
                <a:latin typeface="Arial"/>
                <a:cs typeface="Arial"/>
              </a:rPr>
              <a:t>appointments </a:t>
            </a:r>
            <a:r>
              <a:rPr dirty="0" sz="1200" spc="-50">
                <a:solidFill>
                  <a:srgbClr val="E4DFDF"/>
                </a:solidFill>
                <a:latin typeface="Arial"/>
                <a:cs typeface="Arial"/>
              </a:rPr>
              <a:t>&amp; </a:t>
            </a:r>
            <a:r>
              <a:rPr dirty="0" sz="1200">
                <a:solidFill>
                  <a:srgbClr val="E4DFDF"/>
                </a:solidFill>
                <a:latin typeface="Arial"/>
                <a:cs typeface="Arial"/>
              </a:rPr>
              <a:t>AI</a:t>
            </a:r>
            <a:r>
              <a:rPr dirty="0" sz="1200" spc="-10">
                <a:solidFill>
                  <a:srgbClr val="E4DFDF"/>
                </a:solidFill>
                <a:latin typeface="Arial"/>
                <a:cs typeface="Arial"/>
              </a:rPr>
              <a:t> chatbot support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10" name="object 10" descr=""/>
          <p:cNvGrpSpPr/>
          <p:nvPr/>
        </p:nvGrpSpPr>
        <p:grpSpPr>
          <a:xfrm>
            <a:off x="2131669" y="1636890"/>
            <a:ext cx="1452245" cy="1845945"/>
            <a:chOff x="2131669" y="1636890"/>
            <a:chExt cx="1452245" cy="1845945"/>
          </a:xfrm>
        </p:grpSpPr>
        <p:sp>
          <p:nvSpPr>
            <p:cNvPr id="11" name="object 11" descr=""/>
            <p:cNvSpPr/>
            <p:nvPr/>
          </p:nvSpPr>
          <p:spPr>
            <a:xfrm>
              <a:off x="2136432" y="1641652"/>
              <a:ext cx="1442720" cy="1836420"/>
            </a:xfrm>
            <a:custGeom>
              <a:avLst/>
              <a:gdLst/>
              <a:ahLst/>
              <a:cxnLst/>
              <a:rect l="l" t="t" r="r" b="b"/>
              <a:pathLst>
                <a:path w="1442720" h="1836420">
                  <a:moveTo>
                    <a:pt x="1377340" y="0"/>
                  </a:moveTo>
                  <a:lnTo>
                    <a:pt x="64809" y="0"/>
                  </a:lnTo>
                  <a:lnTo>
                    <a:pt x="39684" y="5127"/>
                  </a:lnTo>
                  <a:lnTo>
                    <a:pt x="19072" y="19073"/>
                  </a:lnTo>
                  <a:lnTo>
                    <a:pt x="5126" y="39685"/>
                  </a:lnTo>
                  <a:lnTo>
                    <a:pt x="0" y="64808"/>
                  </a:lnTo>
                  <a:lnTo>
                    <a:pt x="0" y="1771573"/>
                  </a:lnTo>
                  <a:lnTo>
                    <a:pt x="5126" y="1796703"/>
                  </a:lnTo>
                  <a:lnTo>
                    <a:pt x="19072" y="1817319"/>
                  </a:lnTo>
                  <a:lnTo>
                    <a:pt x="39684" y="1831266"/>
                  </a:lnTo>
                  <a:lnTo>
                    <a:pt x="64809" y="1836394"/>
                  </a:lnTo>
                  <a:lnTo>
                    <a:pt x="1377340" y="1836394"/>
                  </a:lnTo>
                  <a:lnTo>
                    <a:pt x="1402463" y="1831266"/>
                  </a:lnTo>
                  <a:lnTo>
                    <a:pt x="1423074" y="1817319"/>
                  </a:lnTo>
                  <a:lnTo>
                    <a:pt x="1437021" y="1796703"/>
                  </a:lnTo>
                  <a:lnTo>
                    <a:pt x="1442148" y="1771573"/>
                  </a:lnTo>
                  <a:lnTo>
                    <a:pt x="1442148" y="64808"/>
                  </a:lnTo>
                  <a:lnTo>
                    <a:pt x="1437021" y="39685"/>
                  </a:lnTo>
                  <a:lnTo>
                    <a:pt x="1423074" y="19073"/>
                  </a:lnTo>
                  <a:lnTo>
                    <a:pt x="1402463" y="5127"/>
                  </a:lnTo>
                  <a:lnTo>
                    <a:pt x="1377340" y="0"/>
                  </a:lnTo>
                  <a:close/>
                </a:path>
              </a:pathLst>
            </a:custGeom>
            <a:solidFill>
              <a:srgbClr val="79060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2136432" y="1641652"/>
              <a:ext cx="1442720" cy="1836420"/>
            </a:xfrm>
            <a:custGeom>
              <a:avLst/>
              <a:gdLst/>
              <a:ahLst/>
              <a:cxnLst/>
              <a:rect l="l" t="t" r="r" b="b"/>
              <a:pathLst>
                <a:path w="1442720" h="1836420">
                  <a:moveTo>
                    <a:pt x="0" y="64808"/>
                  </a:moveTo>
                  <a:lnTo>
                    <a:pt x="5126" y="39685"/>
                  </a:lnTo>
                  <a:lnTo>
                    <a:pt x="19072" y="19073"/>
                  </a:lnTo>
                  <a:lnTo>
                    <a:pt x="39684" y="5127"/>
                  </a:lnTo>
                  <a:lnTo>
                    <a:pt x="64809" y="0"/>
                  </a:lnTo>
                  <a:lnTo>
                    <a:pt x="1377340" y="0"/>
                  </a:lnTo>
                  <a:lnTo>
                    <a:pt x="1402463" y="5127"/>
                  </a:lnTo>
                  <a:lnTo>
                    <a:pt x="1423074" y="19073"/>
                  </a:lnTo>
                  <a:lnTo>
                    <a:pt x="1437021" y="39685"/>
                  </a:lnTo>
                  <a:lnTo>
                    <a:pt x="1442148" y="64808"/>
                  </a:lnTo>
                  <a:lnTo>
                    <a:pt x="1442148" y="1771573"/>
                  </a:lnTo>
                  <a:lnTo>
                    <a:pt x="1437021" y="1796703"/>
                  </a:lnTo>
                  <a:lnTo>
                    <a:pt x="1423074" y="1817319"/>
                  </a:lnTo>
                  <a:lnTo>
                    <a:pt x="1402463" y="1831266"/>
                  </a:lnTo>
                  <a:lnTo>
                    <a:pt x="1377340" y="1836394"/>
                  </a:lnTo>
                  <a:lnTo>
                    <a:pt x="64809" y="1836394"/>
                  </a:lnTo>
                  <a:lnTo>
                    <a:pt x="39684" y="1831266"/>
                  </a:lnTo>
                  <a:lnTo>
                    <a:pt x="19072" y="1817319"/>
                  </a:lnTo>
                  <a:lnTo>
                    <a:pt x="5126" y="1796703"/>
                  </a:lnTo>
                  <a:lnTo>
                    <a:pt x="0" y="1771573"/>
                  </a:lnTo>
                  <a:lnTo>
                    <a:pt x="0" y="64808"/>
                  </a:lnTo>
                  <a:close/>
                </a:path>
              </a:pathLst>
            </a:custGeom>
            <a:ln w="9524">
              <a:solidFill>
                <a:srgbClr val="921F2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 descr=""/>
          <p:cNvSpPr txBox="1"/>
          <p:nvPr/>
        </p:nvSpPr>
        <p:spPr>
          <a:xfrm>
            <a:off x="2287511" y="1789099"/>
            <a:ext cx="1135380" cy="1216660"/>
          </a:xfrm>
          <a:prstGeom prst="rect">
            <a:avLst/>
          </a:prstGeom>
        </p:spPr>
        <p:txBody>
          <a:bodyPr wrap="square" lIns="0" tIns="4445" rIns="0" bIns="0" rtlCol="0" vert="horz">
            <a:spAutoFit/>
          </a:bodyPr>
          <a:lstStyle/>
          <a:p>
            <a:pPr marL="12700" marR="304800">
              <a:lnSpc>
                <a:spcPct val="104000"/>
              </a:lnSpc>
              <a:spcBef>
                <a:spcPts val="35"/>
              </a:spcBef>
            </a:pPr>
            <a:r>
              <a:rPr dirty="0" sz="1350" spc="-10">
                <a:solidFill>
                  <a:srgbClr val="E4DFDF"/>
                </a:solidFill>
                <a:latin typeface="Arial"/>
                <a:cs typeface="Arial"/>
              </a:rPr>
              <a:t>Wearable Integration</a:t>
            </a:r>
            <a:endParaRPr sz="1350">
              <a:latin typeface="Arial"/>
              <a:cs typeface="Arial"/>
            </a:endParaRPr>
          </a:p>
          <a:p>
            <a:pPr marL="12700" marR="5080">
              <a:lnSpc>
                <a:spcPct val="133000"/>
              </a:lnSpc>
              <a:spcBef>
                <a:spcPts val="325"/>
              </a:spcBef>
            </a:pPr>
            <a:r>
              <a:rPr dirty="0" sz="1200">
                <a:solidFill>
                  <a:srgbClr val="E4DFDF"/>
                </a:solidFill>
                <a:latin typeface="Arial"/>
                <a:cs typeface="Arial"/>
              </a:rPr>
              <a:t>Smartwatches </a:t>
            </a:r>
            <a:r>
              <a:rPr dirty="0" sz="1200" spc="-50">
                <a:solidFill>
                  <a:srgbClr val="E4DFDF"/>
                </a:solidFill>
                <a:latin typeface="Arial"/>
                <a:cs typeface="Arial"/>
              </a:rPr>
              <a:t>&amp; </a:t>
            </a:r>
            <a:r>
              <a:rPr dirty="0" sz="1200">
                <a:solidFill>
                  <a:srgbClr val="E4DFDF"/>
                </a:solidFill>
                <a:latin typeface="Arial"/>
                <a:cs typeface="Arial"/>
              </a:rPr>
              <a:t>fitness </a:t>
            </a:r>
            <a:r>
              <a:rPr dirty="0" sz="1200" spc="-10">
                <a:solidFill>
                  <a:srgbClr val="E4DFDF"/>
                </a:solidFill>
                <a:latin typeface="Arial"/>
                <a:cs typeface="Arial"/>
              </a:rPr>
              <a:t>bands synced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14" name="object 14" descr=""/>
          <p:cNvGrpSpPr/>
          <p:nvPr/>
        </p:nvGrpSpPr>
        <p:grpSpPr>
          <a:xfrm>
            <a:off x="3728072" y="1636890"/>
            <a:ext cx="1452245" cy="1845945"/>
            <a:chOff x="3728072" y="1636890"/>
            <a:chExt cx="1452245" cy="1845945"/>
          </a:xfrm>
        </p:grpSpPr>
        <p:sp>
          <p:nvSpPr>
            <p:cNvPr id="15" name="object 15" descr=""/>
            <p:cNvSpPr/>
            <p:nvPr/>
          </p:nvSpPr>
          <p:spPr>
            <a:xfrm>
              <a:off x="3732834" y="1641652"/>
              <a:ext cx="1442720" cy="1836420"/>
            </a:xfrm>
            <a:custGeom>
              <a:avLst/>
              <a:gdLst/>
              <a:ahLst/>
              <a:cxnLst/>
              <a:rect l="l" t="t" r="r" b="b"/>
              <a:pathLst>
                <a:path w="1442720" h="1836420">
                  <a:moveTo>
                    <a:pt x="1377340" y="0"/>
                  </a:moveTo>
                  <a:lnTo>
                    <a:pt x="64809" y="0"/>
                  </a:lnTo>
                  <a:lnTo>
                    <a:pt x="39684" y="5127"/>
                  </a:lnTo>
                  <a:lnTo>
                    <a:pt x="19072" y="19073"/>
                  </a:lnTo>
                  <a:lnTo>
                    <a:pt x="5126" y="39685"/>
                  </a:lnTo>
                  <a:lnTo>
                    <a:pt x="0" y="64808"/>
                  </a:lnTo>
                  <a:lnTo>
                    <a:pt x="0" y="1771573"/>
                  </a:lnTo>
                  <a:lnTo>
                    <a:pt x="5126" y="1796703"/>
                  </a:lnTo>
                  <a:lnTo>
                    <a:pt x="19072" y="1817319"/>
                  </a:lnTo>
                  <a:lnTo>
                    <a:pt x="39684" y="1831266"/>
                  </a:lnTo>
                  <a:lnTo>
                    <a:pt x="64809" y="1836394"/>
                  </a:lnTo>
                  <a:lnTo>
                    <a:pt x="1377340" y="1836394"/>
                  </a:lnTo>
                  <a:lnTo>
                    <a:pt x="1402463" y="1831266"/>
                  </a:lnTo>
                  <a:lnTo>
                    <a:pt x="1423074" y="1817319"/>
                  </a:lnTo>
                  <a:lnTo>
                    <a:pt x="1437021" y="1796703"/>
                  </a:lnTo>
                  <a:lnTo>
                    <a:pt x="1442148" y="1771573"/>
                  </a:lnTo>
                  <a:lnTo>
                    <a:pt x="1442148" y="64808"/>
                  </a:lnTo>
                  <a:lnTo>
                    <a:pt x="1437021" y="39685"/>
                  </a:lnTo>
                  <a:lnTo>
                    <a:pt x="1423074" y="19073"/>
                  </a:lnTo>
                  <a:lnTo>
                    <a:pt x="1402463" y="5127"/>
                  </a:lnTo>
                  <a:lnTo>
                    <a:pt x="1377340" y="0"/>
                  </a:lnTo>
                  <a:close/>
                </a:path>
              </a:pathLst>
            </a:custGeom>
            <a:solidFill>
              <a:srgbClr val="79060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3732834" y="1641652"/>
              <a:ext cx="1442720" cy="1836420"/>
            </a:xfrm>
            <a:custGeom>
              <a:avLst/>
              <a:gdLst/>
              <a:ahLst/>
              <a:cxnLst/>
              <a:rect l="l" t="t" r="r" b="b"/>
              <a:pathLst>
                <a:path w="1442720" h="1836420">
                  <a:moveTo>
                    <a:pt x="0" y="64808"/>
                  </a:moveTo>
                  <a:lnTo>
                    <a:pt x="5126" y="39685"/>
                  </a:lnTo>
                  <a:lnTo>
                    <a:pt x="19072" y="19073"/>
                  </a:lnTo>
                  <a:lnTo>
                    <a:pt x="39684" y="5127"/>
                  </a:lnTo>
                  <a:lnTo>
                    <a:pt x="64809" y="0"/>
                  </a:lnTo>
                  <a:lnTo>
                    <a:pt x="1377340" y="0"/>
                  </a:lnTo>
                  <a:lnTo>
                    <a:pt x="1402463" y="5127"/>
                  </a:lnTo>
                  <a:lnTo>
                    <a:pt x="1423074" y="19073"/>
                  </a:lnTo>
                  <a:lnTo>
                    <a:pt x="1437021" y="39685"/>
                  </a:lnTo>
                  <a:lnTo>
                    <a:pt x="1442148" y="64808"/>
                  </a:lnTo>
                  <a:lnTo>
                    <a:pt x="1442148" y="1771573"/>
                  </a:lnTo>
                  <a:lnTo>
                    <a:pt x="1437021" y="1796703"/>
                  </a:lnTo>
                  <a:lnTo>
                    <a:pt x="1423074" y="1817319"/>
                  </a:lnTo>
                  <a:lnTo>
                    <a:pt x="1402463" y="1831266"/>
                  </a:lnTo>
                  <a:lnTo>
                    <a:pt x="1377340" y="1836394"/>
                  </a:lnTo>
                  <a:lnTo>
                    <a:pt x="64809" y="1836394"/>
                  </a:lnTo>
                  <a:lnTo>
                    <a:pt x="39684" y="1831266"/>
                  </a:lnTo>
                  <a:lnTo>
                    <a:pt x="19072" y="1817319"/>
                  </a:lnTo>
                  <a:lnTo>
                    <a:pt x="5126" y="1796703"/>
                  </a:lnTo>
                  <a:lnTo>
                    <a:pt x="0" y="1771573"/>
                  </a:lnTo>
                  <a:lnTo>
                    <a:pt x="0" y="64808"/>
                  </a:lnTo>
                  <a:close/>
                </a:path>
              </a:pathLst>
            </a:custGeom>
            <a:ln w="9524">
              <a:solidFill>
                <a:srgbClr val="921F2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 descr=""/>
          <p:cNvSpPr txBox="1"/>
          <p:nvPr/>
        </p:nvSpPr>
        <p:spPr>
          <a:xfrm>
            <a:off x="3883914" y="1789099"/>
            <a:ext cx="959485" cy="1459865"/>
          </a:xfrm>
          <a:prstGeom prst="rect">
            <a:avLst/>
          </a:prstGeom>
        </p:spPr>
        <p:txBody>
          <a:bodyPr wrap="square" lIns="0" tIns="4445" rIns="0" bIns="0" rtlCol="0" vert="horz">
            <a:spAutoFit/>
          </a:bodyPr>
          <a:lstStyle/>
          <a:p>
            <a:pPr marL="12700" marR="5080">
              <a:lnSpc>
                <a:spcPct val="104000"/>
              </a:lnSpc>
              <a:spcBef>
                <a:spcPts val="35"/>
              </a:spcBef>
            </a:pPr>
            <a:r>
              <a:rPr dirty="0" sz="1350">
                <a:solidFill>
                  <a:srgbClr val="E4DFDF"/>
                </a:solidFill>
                <a:latin typeface="Arial"/>
                <a:cs typeface="Arial"/>
              </a:rPr>
              <a:t>Pharmacy </a:t>
            </a:r>
            <a:r>
              <a:rPr dirty="0" sz="1350" spc="-50">
                <a:solidFill>
                  <a:srgbClr val="E4DFDF"/>
                </a:solidFill>
                <a:latin typeface="Arial"/>
                <a:cs typeface="Arial"/>
              </a:rPr>
              <a:t>&amp; </a:t>
            </a:r>
            <a:r>
              <a:rPr dirty="0" sz="1350" spc="-10">
                <a:solidFill>
                  <a:srgbClr val="E4DFDF"/>
                </a:solidFill>
                <a:latin typeface="Arial"/>
                <a:cs typeface="Arial"/>
              </a:rPr>
              <a:t>Insurance</a:t>
            </a:r>
            <a:endParaRPr sz="1350">
              <a:latin typeface="Arial"/>
              <a:cs typeface="Arial"/>
            </a:endParaRPr>
          </a:p>
          <a:p>
            <a:pPr marL="12700" marR="83185">
              <a:lnSpc>
                <a:spcPct val="133000"/>
              </a:lnSpc>
              <a:spcBef>
                <a:spcPts val="325"/>
              </a:spcBef>
            </a:pPr>
            <a:r>
              <a:rPr dirty="0" sz="1200" spc="-10">
                <a:solidFill>
                  <a:srgbClr val="E4DFDF"/>
                </a:solidFill>
                <a:latin typeface="Arial"/>
                <a:cs typeface="Arial"/>
              </a:rPr>
              <a:t>Medicine </a:t>
            </a:r>
            <a:r>
              <a:rPr dirty="0" sz="1200">
                <a:solidFill>
                  <a:srgbClr val="E4DFDF"/>
                </a:solidFill>
                <a:latin typeface="Arial"/>
                <a:cs typeface="Arial"/>
              </a:rPr>
              <a:t>ordering</a:t>
            </a:r>
            <a:r>
              <a:rPr dirty="0" sz="1200" spc="-35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1200" spc="-25">
                <a:solidFill>
                  <a:srgbClr val="E4DFDF"/>
                </a:solidFill>
                <a:latin typeface="Arial"/>
                <a:cs typeface="Arial"/>
              </a:rPr>
              <a:t>and </a:t>
            </a:r>
            <a:r>
              <a:rPr dirty="0" sz="1200" spc="-10">
                <a:solidFill>
                  <a:srgbClr val="E4DFDF"/>
                </a:solidFill>
                <a:latin typeface="Arial"/>
                <a:cs typeface="Arial"/>
              </a:rPr>
              <a:t>insurance records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18" name="object 18" descr=""/>
          <p:cNvGrpSpPr/>
          <p:nvPr/>
        </p:nvGrpSpPr>
        <p:grpSpPr>
          <a:xfrm>
            <a:off x="535260" y="3627539"/>
            <a:ext cx="4645025" cy="890905"/>
            <a:chOff x="535260" y="3627539"/>
            <a:chExt cx="4645025" cy="890905"/>
          </a:xfrm>
        </p:grpSpPr>
        <p:sp>
          <p:nvSpPr>
            <p:cNvPr id="19" name="object 19" descr=""/>
            <p:cNvSpPr/>
            <p:nvPr/>
          </p:nvSpPr>
          <p:spPr>
            <a:xfrm>
              <a:off x="540023" y="3632301"/>
              <a:ext cx="4635500" cy="881380"/>
            </a:xfrm>
            <a:custGeom>
              <a:avLst/>
              <a:gdLst/>
              <a:ahLst/>
              <a:cxnLst/>
              <a:rect l="l" t="t" r="r" b="b"/>
              <a:pathLst>
                <a:path w="4635500" h="881379">
                  <a:moveTo>
                    <a:pt x="4570145" y="0"/>
                  </a:moveTo>
                  <a:lnTo>
                    <a:pt x="64806" y="0"/>
                  </a:lnTo>
                  <a:lnTo>
                    <a:pt x="39681" y="5125"/>
                  </a:lnTo>
                  <a:lnTo>
                    <a:pt x="19071" y="19069"/>
                  </a:lnTo>
                  <a:lnTo>
                    <a:pt x="5126" y="39679"/>
                  </a:lnTo>
                  <a:lnTo>
                    <a:pt x="0" y="64808"/>
                  </a:lnTo>
                  <a:lnTo>
                    <a:pt x="0" y="816559"/>
                  </a:lnTo>
                  <a:lnTo>
                    <a:pt x="5126" y="841679"/>
                  </a:lnTo>
                  <a:lnTo>
                    <a:pt x="19071" y="862287"/>
                  </a:lnTo>
                  <a:lnTo>
                    <a:pt x="39681" y="876229"/>
                  </a:lnTo>
                  <a:lnTo>
                    <a:pt x="64806" y="881354"/>
                  </a:lnTo>
                  <a:lnTo>
                    <a:pt x="4570145" y="881354"/>
                  </a:lnTo>
                  <a:lnTo>
                    <a:pt x="4595268" y="876229"/>
                  </a:lnTo>
                  <a:lnTo>
                    <a:pt x="4615880" y="862287"/>
                  </a:lnTo>
                  <a:lnTo>
                    <a:pt x="4629826" y="841679"/>
                  </a:lnTo>
                  <a:lnTo>
                    <a:pt x="4634953" y="816559"/>
                  </a:lnTo>
                  <a:lnTo>
                    <a:pt x="4634953" y="64808"/>
                  </a:lnTo>
                  <a:lnTo>
                    <a:pt x="4629826" y="39679"/>
                  </a:lnTo>
                  <a:lnTo>
                    <a:pt x="4615880" y="19069"/>
                  </a:lnTo>
                  <a:lnTo>
                    <a:pt x="4595268" y="5125"/>
                  </a:lnTo>
                  <a:lnTo>
                    <a:pt x="4570145" y="0"/>
                  </a:lnTo>
                  <a:close/>
                </a:path>
              </a:pathLst>
            </a:custGeom>
            <a:solidFill>
              <a:srgbClr val="79060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540023" y="3632301"/>
              <a:ext cx="4635500" cy="881380"/>
            </a:xfrm>
            <a:custGeom>
              <a:avLst/>
              <a:gdLst/>
              <a:ahLst/>
              <a:cxnLst/>
              <a:rect l="l" t="t" r="r" b="b"/>
              <a:pathLst>
                <a:path w="4635500" h="881379">
                  <a:moveTo>
                    <a:pt x="0" y="64808"/>
                  </a:moveTo>
                  <a:lnTo>
                    <a:pt x="5126" y="39679"/>
                  </a:lnTo>
                  <a:lnTo>
                    <a:pt x="19071" y="19069"/>
                  </a:lnTo>
                  <a:lnTo>
                    <a:pt x="39681" y="5125"/>
                  </a:lnTo>
                  <a:lnTo>
                    <a:pt x="64806" y="0"/>
                  </a:lnTo>
                  <a:lnTo>
                    <a:pt x="4570145" y="0"/>
                  </a:lnTo>
                  <a:lnTo>
                    <a:pt x="4595268" y="5125"/>
                  </a:lnTo>
                  <a:lnTo>
                    <a:pt x="4615880" y="19069"/>
                  </a:lnTo>
                  <a:lnTo>
                    <a:pt x="4629826" y="39679"/>
                  </a:lnTo>
                  <a:lnTo>
                    <a:pt x="4634953" y="64808"/>
                  </a:lnTo>
                  <a:lnTo>
                    <a:pt x="4634953" y="816559"/>
                  </a:lnTo>
                  <a:lnTo>
                    <a:pt x="4629826" y="841679"/>
                  </a:lnTo>
                  <a:lnTo>
                    <a:pt x="4615880" y="862287"/>
                  </a:lnTo>
                  <a:lnTo>
                    <a:pt x="4595268" y="876229"/>
                  </a:lnTo>
                  <a:lnTo>
                    <a:pt x="4570145" y="881354"/>
                  </a:lnTo>
                  <a:lnTo>
                    <a:pt x="64806" y="881354"/>
                  </a:lnTo>
                  <a:lnTo>
                    <a:pt x="39681" y="876229"/>
                  </a:lnTo>
                  <a:lnTo>
                    <a:pt x="19071" y="862287"/>
                  </a:lnTo>
                  <a:lnTo>
                    <a:pt x="5126" y="841679"/>
                  </a:lnTo>
                  <a:lnTo>
                    <a:pt x="0" y="816559"/>
                  </a:lnTo>
                  <a:lnTo>
                    <a:pt x="0" y="64808"/>
                  </a:lnTo>
                  <a:close/>
                </a:path>
              </a:pathLst>
            </a:custGeom>
            <a:ln w="9524">
              <a:solidFill>
                <a:srgbClr val="921F2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 descr=""/>
          <p:cNvSpPr txBox="1"/>
          <p:nvPr/>
        </p:nvSpPr>
        <p:spPr>
          <a:xfrm>
            <a:off x="691108" y="3665505"/>
            <a:ext cx="2980690" cy="629920"/>
          </a:xfrm>
          <a:prstGeom prst="rect">
            <a:avLst/>
          </a:prstGeom>
        </p:spPr>
        <p:txBody>
          <a:bodyPr wrap="square" lIns="0" tIns="1270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0"/>
              </a:spcBef>
            </a:pPr>
            <a:r>
              <a:rPr dirty="0" sz="1350">
                <a:solidFill>
                  <a:srgbClr val="E4DFDF"/>
                </a:solidFill>
                <a:latin typeface="Arial"/>
                <a:cs typeface="Arial"/>
              </a:rPr>
              <a:t>National</a:t>
            </a:r>
            <a:r>
              <a:rPr dirty="0" sz="1350" spc="-30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1350" spc="-10">
                <a:solidFill>
                  <a:srgbClr val="E4DFDF"/>
                </a:solidFill>
                <a:latin typeface="Arial"/>
                <a:cs typeface="Arial"/>
              </a:rPr>
              <a:t>Integration</a:t>
            </a:r>
            <a:endParaRPr sz="13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dirty="0" sz="1200">
                <a:solidFill>
                  <a:srgbClr val="E4DFDF"/>
                </a:solidFill>
                <a:latin typeface="Arial"/>
                <a:cs typeface="Arial"/>
              </a:rPr>
              <a:t>Connect</a:t>
            </a:r>
            <a:r>
              <a:rPr dirty="0" sz="1200" spc="-30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E4DFDF"/>
                </a:solidFill>
                <a:latin typeface="Arial"/>
                <a:cs typeface="Arial"/>
              </a:rPr>
              <a:t>with</a:t>
            </a:r>
            <a:r>
              <a:rPr dirty="0" sz="1200" spc="-25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E4DFDF"/>
                </a:solidFill>
                <a:latin typeface="Arial"/>
                <a:cs typeface="Arial"/>
              </a:rPr>
              <a:t>national</a:t>
            </a:r>
            <a:r>
              <a:rPr dirty="0" sz="1200" spc="-30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E4DFDF"/>
                </a:solidFill>
                <a:latin typeface="Arial"/>
                <a:cs typeface="Arial"/>
              </a:rPr>
              <a:t>digital</a:t>
            </a:r>
            <a:r>
              <a:rPr dirty="0" sz="1200" spc="-25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E4DFDF"/>
                </a:solidFill>
                <a:latin typeface="Arial"/>
                <a:cs typeface="Arial"/>
              </a:rPr>
              <a:t>health</a:t>
            </a:r>
            <a:r>
              <a:rPr dirty="0" sz="1200" spc="-25">
                <a:solidFill>
                  <a:srgbClr val="E4DFDF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E4DFDF"/>
                </a:solidFill>
                <a:latin typeface="Arial"/>
                <a:cs typeface="Arial"/>
              </a:rPr>
              <a:t>systems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108835" algn="l"/>
              </a:tabLst>
            </a:pPr>
            <a:r>
              <a:rPr dirty="0" sz="5400" spc="-10"/>
              <a:t>Thank</a:t>
            </a:r>
            <a:r>
              <a:rPr dirty="0" sz="5400"/>
              <a:t>	</a:t>
            </a:r>
            <a:r>
              <a:rPr dirty="0" sz="5400" spc="-25"/>
              <a:t>You</a:t>
            </a:r>
            <a:endParaRPr sz="5400"/>
          </a:p>
        </p:txBody>
      </p:sp>
      <p:sp>
        <p:nvSpPr>
          <p:cNvPr id="3" name="object 3" descr=""/>
          <p:cNvSpPr txBox="1"/>
          <p:nvPr/>
        </p:nvSpPr>
        <p:spPr>
          <a:xfrm>
            <a:off x="3711392" y="2926156"/>
            <a:ext cx="1952625" cy="3530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50">
                <a:solidFill>
                  <a:srgbClr val="FFFFFF"/>
                </a:solidFill>
                <a:latin typeface="Arial"/>
                <a:cs typeface="Arial"/>
              </a:rPr>
              <a:t>Any</a:t>
            </a:r>
            <a:r>
              <a:rPr dirty="0" sz="2150" spc="-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150" spc="-10">
                <a:solidFill>
                  <a:srgbClr val="FFFFFF"/>
                </a:solidFill>
                <a:latin typeface="Arial"/>
                <a:cs typeface="Arial"/>
              </a:rPr>
              <a:t>Questions?</a:t>
            </a:r>
            <a:endParaRPr sz="21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2026-06-29T03:34:58Z</dcterms:created>
  <dcterms:modified xsi:type="dcterms:W3CDTF">2026-06-29T03:34:58Z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2026-06-29T00:00:00Z</vt:filetime>
  </property>
  <property fmtid="{D5CDD505-2E9C-101B-9397-08002B2CF9AE}" pid="3" name="LastSaved">
    <vt:filetime>2026-06-29T00:00:00Z</vt:filetime>
  </property>
  <property fmtid="{D5CDD505-2E9C-101B-9397-08002B2CF9AE}" pid="4" name="Producer">
    <vt:lpwstr>3-Heights(TM) PDF Security Shell 4.8.25.2 (http://www.pdf-tools.com)</vt:lpwstr>
  </property>
</Properties>
</file>