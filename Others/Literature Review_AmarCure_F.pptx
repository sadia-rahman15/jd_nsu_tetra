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4" r:id="rId7"/>
    <p:sldId id="262" r:id="rId8"/>
    <p:sldId id="263" r:id="rId9"/>
    <p:sldId id="265" r:id="rId10"/>
    <p:sldId id="266" r:id="rId11"/>
  </p:sldIdLst>
  <p:sldSz cx="9144000" cy="5143500" type="screen16x9"/>
  <p:notesSz cx="5143500" cy="9144000"/>
  <p:embeddedFontLst>
    <p:embeddedFont>
      <p:font typeface="Calibri" panose="020F0502020204030204" pitchFamily="34" charset="0"/>
      <p:regular r:id="rId13"/>
      <p:bold r:id="rId14"/>
      <p:italic r:id="rId15"/>
      <p:boldItalic r:id="rId16"/>
    </p:embeddedFont>
    <p:embeddedFont>
      <p:font typeface="Kanit Light" panose="020B0604020202020204" charset="-34"/>
      <p:regular r:id="rId17"/>
    </p:embeddedFont>
    <p:embeddedFont>
      <p:font typeface="Martel Sans" panose="020B0604020202020204" charset="0"/>
      <p:regular r:id="rId18"/>
    </p:embeddedFont>
    <p:embeddedFont>
      <p:font typeface="Martel Sans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3"/>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610344"/>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AmarCure: An AI-Powered Comprehensive Healthcare Management System</a:t>
            </a:r>
            <a:endParaRPr lang="en-US" sz="2750" dirty="0"/>
          </a:p>
        </p:txBody>
      </p:sp>
      <p:sp>
        <p:nvSpPr>
          <p:cNvPr id="4" name="Text 1"/>
          <p:cNvSpPr/>
          <p:nvPr/>
        </p:nvSpPr>
        <p:spPr>
          <a:xfrm>
            <a:off x="3925119" y="2151906"/>
            <a:ext cx="5179963" cy="226814"/>
          </a:xfrm>
          <a:prstGeom prst="rect">
            <a:avLst/>
          </a:prstGeom>
          <a:noFill/>
          <a:ln/>
        </p:spPr>
        <p:txBody>
          <a:bodyPr wrap="none" lIns="0" tIns="0" rIns="0" bIns="0" rtlCol="0" anchor="t"/>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CSE299 | Section 03 | Group 03</a:t>
            </a:r>
            <a:endParaRPr lang="en-US" sz="1100" dirty="0"/>
          </a:p>
        </p:txBody>
      </p:sp>
      <p:sp>
        <p:nvSpPr>
          <p:cNvPr id="5" name="Text 2"/>
          <p:cNvSpPr/>
          <p:nvPr/>
        </p:nvSpPr>
        <p:spPr>
          <a:xfrm>
            <a:off x="3925119" y="2538189"/>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Team Members:</a:t>
            </a:r>
            <a:endParaRPr lang="en-US" sz="1100" dirty="0"/>
          </a:p>
        </p:txBody>
      </p:sp>
      <p:sp>
        <p:nvSpPr>
          <p:cNvPr id="6" name="Text 3"/>
          <p:cNvSpPr/>
          <p:nvPr/>
        </p:nvSpPr>
        <p:spPr>
          <a:xfrm>
            <a:off x="3925119" y="2924473"/>
            <a:ext cx="4722763" cy="1608683"/>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Sajin Ahmed Nirjona | 2011108642 | </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Sadia Rahaman Piya | 2221136042 | </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Shahina Alian Mahifa | 2231167642 | </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S.M. Rawnakul Islam Desh | 2233282642 | </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MD. Tanvir Rahaman | 2232397042 | </a:t>
            </a:r>
          </a:p>
          <a:p>
            <a:pPr algn="l">
              <a:lnSpc>
                <a:spcPct val="133000"/>
              </a:lnSpc>
              <a:buSzPct val="100000"/>
            </a:pP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Submitted to: </a:t>
            </a:r>
            <a:r>
              <a:rPr lang="en-US" sz="1200" b="1" dirty="0">
                <a:solidFill>
                  <a:srgbClr val="2C3249"/>
                </a:solidFill>
                <a:latin typeface="Martel Sans" pitchFamily="34" charset="0"/>
                <a:ea typeface="Martel Sans" pitchFamily="34" charset="-122"/>
                <a:cs typeface="Martel Sans" pitchFamily="34" charset="-120"/>
              </a:rPr>
              <a:t>Dr. Mohammad Shifat-E-Rabbi</a:t>
            </a:r>
            <a:endParaRPr lang="en-US" sz="11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069330"/>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Introduction &amp; Objective</a:t>
            </a:r>
            <a:endParaRPr lang="en-US" sz="2200" dirty="0"/>
          </a:p>
        </p:txBody>
      </p:sp>
      <p:sp>
        <p:nvSpPr>
          <p:cNvPr id="4" name="Text 1"/>
          <p:cNvSpPr/>
          <p:nvPr/>
        </p:nvSpPr>
        <p:spPr>
          <a:xfrm>
            <a:off x="496119" y="1636291"/>
            <a:ext cx="4722763" cy="2437805"/>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Project vision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 insights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Bangladesh focus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Literature review</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Market gaps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AmarCure solution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System architecture overview</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Key features and modules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Target users and stakeholders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880542"/>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DocTime vs AmarCure</a:t>
            </a:r>
            <a:endParaRPr lang="en-US" sz="2750" dirty="0"/>
          </a:p>
        </p:txBody>
      </p:sp>
      <p:sp>
        <p:nvSpPr>
          <p:cNvPr id="3" name="Text 1"/>
          <p:cNvSpPr/>
          <p:nvPr/>
        </p:nvSpPr>
        <p:spPr>
          <a:xfrm>
            <a:off x="496119" y="1677888"/>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DocTime Strengths:</a:t>
            </a:r>
            <a:endParaRPr lang="en-US" sz="1350" dirty="0"/>
          </a:p>
        </p:txBody>
      </p:sp>
      <p:sp>
        <p:nvSpPr>
          <p:cNvPr id="4" name="Text 2"/>
          <p:cNvSpPr/>
          <p:nvPr/>
        </p:nvSpPr>
        <p:spPr>
          <a:xfrm>
            <a:off x="496119" y="2041103"/>
            <a:ext cx="39029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Fast appointment booking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Live telemedicine consultations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Doctor profiles &amp; ratings</a:t>
            </a:r>
            <a:endParaRPr lang="en-US" sz="1100" dirty="0"/>
          </a:p>
        </p:txBody>
      </p:sp>
      <p:sp>
        <p:nvSpPr>
          <p:cNvPr id="5" name="Text 3"/>
          <p:cNvSpPr/>
          <p:nvPr/>
        </p:nvSpPr>
        <p:spPr>
          <a:xfrm>
            <a:off x="4749701" y="1677888"/>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6" name="Text 4"/>
          <p:cNvSpPr/>
          <p:nvPr/>
        </p:nvSpPr>
        <p:spPr>
          <a:xfrm>
            <a:off x="4749701" y="2041103"/>
            <a:ext cx="3902943" cy="1332309"/>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OCR prescription scanning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AI-powered report analysis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health profile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Centralized EHR storage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Plain-language explanations</a:t>
            </a:r>
            <a:endParaRPr lang="en-US" sz="1100" dirty="0"/>
          </a:p>
        </p:txBody>
      </p:sp>
      <p:sp>
        <p:nvSpPr>
          <p:cNvPr id="7" name="Text 5"/>
          <p:cNvSpPr/>
          <p:nvPr/>
        </p:nvSpPr>
        <p:spPr>
          <a:xfrm>
            <a:off x="496119" y="3582442"/>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DocTime is strongest at connecting patients to doctors quickly, while AmarCure adds more support after the visit by organizing records and turning medical information into clear next steps. For users, that means DocTime helps with access, but AmarCure helps with continuity, comprehension, and long-term care management.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540321"/>
            <a:ext cx="4722763" cy="442987"/>
          </a:xfrm>
          <a:prstGeom prst="rect">
            <a:avLst/>
          </a:prstGeom>
          <a:noFill/>
          <a:ln/>
        </p:spPr>
        <p:txBody>
          <a:bodyPr wrap="none" lIns="0" tIns="0" rIns="0" bIns="0" rtlCol="0" anchor="t"/>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Shohoz Medical vs AmarCure</a:t>
            </a:r>
            <a:endParaRPr lang="en-US" sz="2750" dirty="0"/>
          </a:p>
        </p:txBody>
      </p:sp>
      <p:sp>
        <p:nvSpPr>
          <p:cNvPr id="4" name="Text 1"/>
          <p:cNvSpPr/>
          <p:nvPr/>
        </p:nvSpPr>
        <p:spPr>
          <a:xfrm>
            <a:off x="496119" y="1337667"/>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Shohoz Medical Strengths:</a:t>
            </a:r>
            <a:endParaRPr lang="en-US" sz="1350" dirty="0"/>
          </a:p>
        </p:txBody>
      </p:sp>
      <p:sp>
        <p:nvSpPr>
          <p:cNvPr id="5" name="Text 2"/>
          <p:cNvSpPr/>
          <p:nvPr/>
        </p:nvSpPr>
        <p:spPr>
          <a:xfrm>
            <a:off x="496119" y="1700882"/>
            <a:ext cx="21884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Integrated medicine delivery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Appointment scheduling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Basic document upload</a:t>
            </a:r>
            <a:endParaRPr lang="en-US" sz="1100" dirty="0"/>
          </a:p>
        </p:txBody>
      </p:sp>
      <p:sp>
        <p:nvSpPr>
          <p:cNvPr id="6" name="Text 3"/>
          <p:cNvSpPr/>
          <p:nvPr/>
        </p:nvSpPr>
        <p:spPr>
          <a:xfrm>
            <a:off x="3035201" y="1337667"/>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7" name="Text 4"/>
          <p:cNvSpPr/>
          <p:nvPr/>
        </p:nvSpPr>
        <p:spPr>
          <a:xfrm>
            <a:off x="3035201" y="1700882"/>
            <a:ext cx="2188443" cy="1559123"/>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Advanced OCR extraction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AI-driven health insights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Prescription translation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access protocols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Multi-language support (Bengali/English)</a:t>
            </a:r>
            <a:endParaRPr lang="en-US" sz="1100" dirty="0"/>
          </a:p>
        </p:txBody>
      </p:sp>
      <p:sp>
        <p:nvSpPr>
          <p:cNvPr id="8" name="Text 5"/>
          <p:cNvSpPr/>
          <p:nvPr/>
        </p:nvSpPr>
        <p:spPr>
          <a:xfrm>
            <a:off x="496119" y="3469035"/>
            <a:ext cx="472276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These differences matter because they affect how easily patients can understand, act on, and safely manage their care. Shohoz Medical covers core service workflows, while AmarCure adds intelligence and accessibility features that reduce confusion, improve speed, and support more urgent or language-sensitive situations.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653728"/>
            <a:ext cx="4722763" cy="442987"/>
          </a:xfrm>
          <a:prstGeom prst="rect">
            <a:avLst/>
          </a:prstGeom>
          <a:noFill/>
          <a:ln/>
        </p:spPr>
        <p:txBody>
          <a:bodyPr wrap="none" lIns="0" tIns="0" rIns="0" bIns="0" rtlCol="0" anchor="t"/>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Ada Health vs AmarCure</a:t>
            </a:r>
            <a:endParaRPr lang="en-US" sz="2750" dirty="0"/>
          </a:p>
        </p:txBody>
      </p:sp>
      <p:sp>
        <p:nvSpPr>
          <p:cNvPr id="4" name="Text 1"/>
          <p:cNvSpPr/>
          <p:nvPr/>
        </p:nvSpPr>
        <p:spPr>
          <a:xfrm>
            <a:off x="496119" y="1451074"/>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Ada Health Strengths:</a:t>
            </a:r>
            <a:endParaRPr lang="en-US" sz="1350" dirty="0"/>
          </a:p>
        </p:txBody>
      </p:sp>
      <p:sp>
        <p:nvSpPr>
          <p:cNvPr id="5" name="Text 2"/>
          <p:cNvSpPr/>
          <p:nvPr/>
        </p:nvSpPr>
        <p:spPr>
          <a:xfrm>
            <a:off x="496119" y="1814289"/>
            <a:ext cx="21884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 symptom checker</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Personalized health insights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Global reach &amp; scale</a:t>
            </a:r>
            <a:endParaRPr lang="en-US" sz="1100" dirty="0"/>
          </a:p>
        </p:txBody>
      </p:sp>
      <p:sp>
        <p:nvSpPr>
          <p:cNvPr id="6" name="Text 3"/>
          <p:cNvSpPr/>
          <p:nvPr/>
        </p:nvSpPr>
        <p:spPr>
          <a:xfrm>
            <a:off x="3035201" y="1451074"/>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7" name="Text 4"/>
          <p:cNvSpPr/>
          <p:nvPr/>
        </p:nvSpPr>
        <p:spPr>
          <a:xfrm>
            <a:off x="3035201" y="1814289"/>
            <a:ext cx="2188443" cy="1332309"/>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Bangladesh-specific context</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OCR document scanning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Report analysis &amp; translation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Offline accessibility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Local healthcare integration</a:t>
            </a:r>
            <a:endParaRPr lang="en-US" sz="1100" dirty="0"/>
          </a:p>
        </p:txBody>
      </p:sp>
      <p:sp>
        <p:nvSpPr>
          <p:cNvPr id="8" name="Text 5"/>
          <p:cNvSpPr/>
          <p:nvPr/>
        </p:nvSpPr>
        <p:spPr>
          <a:xfrm>
            <a:off x="496119" y="3355628"/>
            <a:ext cx="472276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In practice, Ada Health is well suited for broad, general-purpose guidance, while AmarCure is designed around the realities of local care delivery. For users in Bangladesh, that means better document handling, language support, and access even when connectivity is limited.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924892"/>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Babylon Health vs AmarCure: A Comparative Analysis</a:t>
            </a:r>
            <a:endParaRPr lang="en-US" sz="2200" dirty="0"/>
          </a:p>
        </p:txBody>
      </p:sp>
      <p:sp>
        <p:nvSpPr>
          <p:cNvPr id="3" name="Text 1"/>
          <p:cNvSpPr/>
          <p:nvPr/>
        </p:nvSpPr>
        <p:spPr>
          <a:xfrm>
            <a:off x="496119" y="1633612"/>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Babylon Health Strengths:</a:t>
            </a:r>
            <a:endParaRPr lang="en-US" sz="1350" dirty="0"/>
          </a:p>
        </p:txBody>
      </p:sp>
      <p:sp>
        <p:nvSpPr>
          <p:cNvPr id="4" name="Text 2"/>
          <p:cNvSpPr/>
          <p:nvPr/>
        </p:nvSpPr>
        <p:spPr>
          <a:xfrm>
            <a:off x="496119" y="1996827"/>
            <a:ext cx="39029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Comprehensive AI triage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24/7 digital consultations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Integrated health records</a:t>
            </a:r>
            <a:endParaRPr lang="en-US" sz="1100" dirty="0"/>
          </a:p>
        </p:txBody>
      </p:sp>
      <p:sp>
        <p:nvSpPr>
          <p:cNvPr id="5" name="Text 3"/>
          <p:cNvSpPr/>
          <p:nvPr/>
        </p:nvSpPr>
        <p:spPr>
          <a:xfrm>
            <a:off x="4749701" y="1633612"/>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6" name="Text 4"/>
          <p:cNvSpPr/>
          <p:nvPr/>
        </p:nvSpPr>
        <p:spPr>
          <a:xfrm>
            <a:off x="4749701" y="1996827"/>
            <a:ext cx="3902943" cy="1332309"/>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Prescription OCR &amp; translation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Affordable for Bangladesh market</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health profiles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Plain-language AI explanations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Accessible UX for all literacy levels</a:t>
            </a:r>
            <a:endParaRPr lang="en-US" sz="1100" dirty="0"/>
          </a:p>
        </p:txBody>
      </p:sp>
      <p:sp>
        <p:nvSpPr>
          <p:cNvPr id="7" name="Text 5"/>
          <p:cNvSpPr/>
          <p:nvPr/>
        </p:nvSpPr>
        <p:spPr>
          <a:xfrm>
            <a:off x="496119" y="3538165"/>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These differences matter because they shape who each platform serves best and how useful it is in real-world care. Babylon Health is built for broad digital healthcare access, while AmarCure is more focused on making prescription information understandable, affordable, and actionable for local users.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44401"/>
            <a:ext cx="8151763" cy="311497"/>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How Research Shapes AmarCure</a:t>
            </a:r>
            <a:endParaRPr lang="en-US" sz="1950" dirty="0"/>
          </a:p>
        </p:txBody>
      </p:sp>
      <p:sp>
        <p:nvSpPr>
          <p:cNvPr id="3" name="Text 1"/>
          <p:cNvSpPr/>
          <p:nvPr/>
        </p:nvSpPr>
        <p:spPr>
          <a:xfrm>
            <a:off x="496119" y="896020"/>
            <a:ext cx="8608963"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Our product development is directly informed by critical analysis of existing solutions and market demands, ensuring AmarCure addresses real-world healthcare challenges.</a:t>
            </a:r>
            <a:endParaRPr lang="en-US" sz="750" dirty="0"/>
          </a:p>
        </p:txBody>
      </p:sp>
      <p:pic>
        <p:nvPicPr>
          <p:cNvPr id="4" name="Image 0" descr="preencoded.png"/>
          <p:cNvPicPr>
            <a:picLocks noChangeAspect="1"/>
          </p:cNvPicPr>
          <p:nvPr/>
        </p:nvPicPr>
        <p:blipFill>
          <a:blip r:embed="rId3"/>
          <a:stretch>
            <a:fillRect/>
          </a:stretch>
        </p:blipFill>
        <p:spPr>
          <a:xfrm>
            <a:off x="496119" y="1110630"/>
            <a:ext cx="498351" cy="498425"/>
          </a:xfrm>
          <a:prstGeom prst="rect">
            <a:avLst/>
          </a:prstGeom>
        </p:spPr>
      </p:pic>
      <p:sp>
        <p:nvSpPr>
          <p:cNvPr id="5" name="Text 2"/>
          <p:cNvSpPr/>
          <p:nvPr/>
        </p:nvSpPr>
        <p:spPr>
          <a:xfrm>
            <a:off x="1064493" y="1110630"/>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DocTime gap</a:t>
            </a:r>
            <a:endParaRPr lang="en-US" sz="950" dirty="0"/>
          </a:p>
        </p:txBody>
      </p:sp>
      <p:sp>
        <p:nvSpPr>
          <p:cNvPr id="6" name="Text 3"/>
          <p:cNvSpPr/>
          <p:nvPr/>
        </p:nvSpPr>
        <p:spPr>
          <a:xfrm>
            <a:off x="1064493" y="1308348"/>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Built OCR prescription scanning</a:t>
            </a:r>
            <a:endParaRPr lang="en-US" sz="750" dirty="0"/>
          </a:p>
        </p:txBody>
      </p:sp>
      <p:pic>
        <p:nvPicPr>
          <p:cNvPr id="7" name="Image 1" descr="preencoded.png"/>
          <p:cNvPicPr>
            <a:picLocks noChangeAspect="1"/>
          </p:cNvPicPr>
          <p:nvPr/>
        </p:nvPicPr>
        <p:blipFill>
          <a:blip r:embed="rId3"/>
          <a:stretch>
            <a:fillRect/>
          </a:stretch>
        </p:blipFill>
        <p:spPr>
          <a:xfrm>
            <a:off x="496119" y="1708696"/>
            <a:ext cx="498351" cy="498425"/>
          </a:xfrm>
          <a:prstGeom prst="rect">
            <a:avLst/>
          </a:prstGeom>
        </p:spPr>
      </p:pic>
      <p:sp>
        <p:nvSpPr>
          <p:cNvPr id="8" name="Text 4"/>
          <p:cNvSpPr/>
          <p:nvPr/>
        </p:nvSpPr>
        <p:spPr>
          <a:xfrm>
            <a:off x="1064493" y="1708696"/>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Shohoz limitation</a:t>
            </a:r>
            <a:endParaRPr lang="en-US" sz="950" dirty="0"/>
          </a:p>
        </p:txBody>
      </p:sp>
      <p:sp>
        <p:nvSpPr>
          <p:cNvPr id="9" name="Text 5"/>
          <p:cNvSpPr/>
          <p:nvPr/>
        </p:nvSpPr>
        <p:spPr>
          <a:xfrm>
            <a:off x="1064493" y="1906414"/>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Added AI-powered translation</a:t>
            </a:r>
            <a:endParaRPr lang="en-US" sz="750" dirty="0"/>
          </a:p>
        </p:txBody>
      </p:sp>
      <p:pic>
        <p:nvPicPr>
          <p:cNvPr id="10" name="Image 2" descr="preencoded.png"/>
          <p:cNvPicPr>
            <a:picLocks noChangeAspect="1"/>
          </p:cNvPicPr>
          <p:nvPr/>
        </p:nvPicPr>
        <p:blipFill>
          <a:blip r:embed="rId3"/>
          <a:stretch>
            <a:fillRect/>
          </a:stretch>
        </p:blipFill>
        <p:spPr>
          <a:xfrm>
            <a:off x="496119" y="2306762"/>
            <a:ext cx="498351" cy="498425"/>
          </a:xfrm>
          <a:prstGeom prst="rect">
            <a:avLst/>
          </a:prstGeom>
        </p:spPr>
      </p:pic>
      <p:sp>
        <p:nvSpPr>
          <p:cNvPr id="11" name="Text 6"/>
          <p:cNvSpPr/>
          <p:nvPr/>
        </p:nvSpPr>
        <p:spPr>
          <a:xfrm>
            <a:off x="1064493" y="2306762"/>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Ada Health insight</a:t>
            </a:r>
            <a:endParaRPr lang="en-US" sz="950" dirty="0"/>
          </a:p>
        </p:txBody>
      </p:sp>
      <p:sp>
        <p:nvSpPr>
          <p:cNvPr id="12" name="Text 7"/>
          <p:cNvSpPr/>
          <p:nvPr/>
        </p:nvSpPr>
        <p:spPr>
          <a:xfrm>
            <a:off x="1064493" y="2504480"/>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Localized for Bangladesh context</a:t>
            </a:r>
            <a:endParaRPr lang="en-US" sz="750" dirty="0"/>
          </a:p>
        </p:txBody>
      </p:sp>
      <p:pic>
        <p:nvPicPr>
          <p:cNvPr id="13" name="Image 3" descr="preencoded.png"/>
          <p:cNvPicPr>
            <a:picLocks noChangeAspect="1"/>
          </p:cNvPicPr>
          <p:nvPr/>
        </p:nvPicPr>
        <p:blipFill>
          <a:blip r:embed="rId3"/>
          <a:stretch>
            <a:fillRect/>
          </a:stretch>
        </p:blipFill>
        <p:spPr>
          <a:xfrm>
            <a:off x="496119" y="2904827"/>
            <a:ext cx="498351" cy="498425"/>
          </a:xfrm>
          <a:prstGeom prst="rect">
            <a:avLst/>
          </a:prstGeom>
        </p:spPr>
      </p:pic>
      <p:sp>
        <p:nvSpPr>
          <p:cNvPr id="14" name="Text 8"/>
          <p:cNvSpPr/>
          <p:nvPr/>
        </p:nvSpPr>
        <p:spPr>
          <a:xfrm>
            <a:off x="1064493" y="2904827"/>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Babylon gap</a:t>
            </a:r>
            <a:endParaRPr lang="en-US" sz="950" dirty="0"/>
          </a:p>
        </p:txBody>
      </p:sp>
      <p:sp>
        <p:nvSpPr>
          <p:cNvPr id="15" name="Text 9"/>
          <p:cNvSpPr/>
          <p:nvPr/>
        </p:nvSpPr>
        <p:spPr>
          <a:xfrm>
            <a:off x="1064493" y="3102546"/>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Designed for low-literacy accessibility</a:t>
            </a:r>
            <a:endParaRPr lang="en-US" sz="750" dirty="0"/>
          </a:p>
        </p:txBody>
      </p:sp>
      <p:pic>
        <p:nvPicPr>
          <p:cNvPr id="16" name="Image 4" descr="preencoded.png"/>
          <p:cNvPicPr>
            <a:picLocks noChangeAspect="1"/>
          </p:cNvPicPr>
          <p:nvPr/>
        </p:nvPicPr>
        <p:blipFill>
          <a:blip r:embed="rId3"/>
          <a:stretch>
            <a:fillRect/>
          </a:stretch>
        </p:blipFill>
        <p:spPr>
          <a:xfrm>
            <a:off x="496119" y="3502893"/>
            <a:ext cx="498351" cy="498425"/>
          </a:xfrm>
          <a:prstGeom prst="rect">
            <a:avLst/>
          </a:prstGeom>
        </p:spPr>
      </p:pic>
      <p:sp>
        <p:nvSpPr>
          <p:cNvPr id="17" name="Text 10"/>
          <p:cNvSpPr/>
          <p:nvPr/>
        </p:nvSpPr>
        <p:spPr>
          <a:xfrm>
            <a:off x="1064493" y="3502893"/>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Market need</a:t>
            </a:r>
            <a:endParaRPr lang="en-US" sz="950" dirty="0"/>
          </a:p>
        </p:txBody>
      </p:sp>
      <p:sp>
        <p:nvSpPr>
          <p:cNvPr id="18" name="Text 11"/>
          <p:cNvSpPr/>
          <p:nvPr/>
        </p:nvSpPr>
        <p:spPr>
          <a:xfrm>
            <a:off x="1064493" y="3700611"/>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Emergency health profile feature</a:t>
            </a:r>
            <a:endParaRPr lang="en-US" sz="750" dirty="0"/>
          </a:p>
        </p:txBody>
      </p:sp>
      <p:pic>
        <p:nvPicPr>
          <p:cNvPr id="19" name="Image 5" descr="preencoded.png"/>
          <p:cNvPicPr>
            <a:picLocks noChangeAspect="1"/>
          </p:cNvPicPr>
          <p:nvPr/>
        </p:nvPicPr>
        <p:blipFill>
          <a:blip r:embed="rId3"/>
          <a:stretch>
            <a:fillRect/>
          </a:stretch>
        </p:blipFill>
        <p:spPr>
          <a:xfrm>
            <a:off x="496119" y="4100959"/>
            <a:ext cx="498351" cy="498425"/>
          </a:xfrm>
          <a:prstGeom prst="rect">
            <a:avLst/>
          </a:prstGeom>
        </p:spPr>
      </p:pic>
      <p:sp>
        <p:nvSpPr>
          <p:cNvPr id="20" name="Text 12"/>
          <p:cNvSpPr/>
          <p:nvPr/>
        </p:nvSpPr>
        <p:spPr>
          <a:xfrm>
            <a:off x="1064493" y="4100959"/>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Integration issue</a:t>
            </a:r>
            <a:endParaRPr lang="en-US" sz="950" dirty="0"/>
          </a:p>
        </p:txBody>
      </p:sp>
      <p:sp>
        <p:nvSpPr>
          <p:cNvPr id="21" name="Text 13"/>
          <p:cNvSpPr/>
          <p:nvPr/>
        </p:nvSpPr>
        <p:spPr>
          <a:xfrm>
            <a:off x="1064493" y="4298677"/>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Centralized EHR storage system</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345704"/>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Proposed Core Workflow</a:t>
            </a:r>
            <a:endParaRPr lang="en-US" sz="2200" dirty="0"/>
          </a:p>
        </p:txBody>
      </p:sp>
      <p:sp>
        <p:nvSpPr>
          <p:cNvPr id="4" name="Text 1"/>
          <p:cNvSpPr/>
          <p:nvPr/>
        </p:nvSpPr>
        <p:spPr>
          <a:xfrm>
            <a:off x="496119" y="1912665"/>
            <a:ext cx="4722763" cy="1885057"/>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Capture image: Snap a prescription or report photo</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OCR extract: Pull text from the image automatically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Clean data: Fix formatting and remove noise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 translate: Convert medical terms into simple language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Validate output: Check key fields for accuracy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Store EHR: Save the structured record securely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Generate summary: Share a patient-friendly explanation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661095"/>
            <a:ext cx="4722763" cy="708720"/>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Security, Scalability &amp; UI Considerations</a:t>
            </a:r>
            <a:endParaRPr lang="en-US" sz="2200" dirty="0"/>
          </a:p>
        </p:txBody>
      </p:sp>
      <p:sp>
        <p:nvSpPr>
          <p:cNvPr id="4" name="Shape 1"/>
          <p:cNvSpPr/>
          <p:nvPr/>
        </p:nvSpPr>
        <p:spPr>
          <a:xfrm>
            <a:off x="496119" y="1582415"/>
            <a:ext cx="2290465" cy="1379116"/>
          </a:xfrm>
          <a:prstGeom prst="roundRect">
            <a:avLst>
              <a:gd name="adj" fmla="val 4317"/>
            </a:avLst>
          </a:prstGeom>
          <a:solidFill>
            <a:srgbClr val="DFECE9"/>
          </a:solidFill>
          <a:ln w="4763">
            <a:solidFill>
              <a:srgbClr val="C5D2CF"/>
            </a:solidFill>
            <a:prstDash val="solid"/>
          </a:ln>
        </p:spPr>
      </p:sp>
      <p:sp>
        <p:nvSpPr>
          <p:cNvPr id="5" name="Text 2"/>
          <p:cNvSpPr/>
          <p:nvPr/>
        </p:nvSpPr>
        <p:spPr>
          <a:xfrm>
            <a:off x="642640" y="1728936"/>
            <a:ext cx="1997422" cy="221456"/>
          </a:xfrm>
          <a:prstGeom prst="rect">
            <a:avLst/>
          </a:prstGeom>
          <a:noFill/>
          <a:ln/>
        </p:spPr>
        <p:txBody>
          <a:bodyPr wrap="none" lIns="0" tIns="0" rIns="0" bIns="0" rtlCol="0" anchor="t"/>
          <a:lstStyle/>
          <a:p>
            <a:pPr marL="0" indent="0" algn="l">
              <a:lnSpc>
                <a:spcPct val="104000"/>
              </a:lnSpc>
              <a:buNone/>
            </a:pPr>
            <a:r>
              <a:rPr lang="en-US" sz="1350" dirty="0">
                <a:solidFill>
                  <a:srgbClr val="2C3249"/>
                </a:solidFill>
                <a:latin typeface="Kanit Light" pitchFamily="34" charset="0"/>
                <a:ea typeface="Kanit Light" pitchFamily="34" charset="-122"/>
                <a:cs typeface="Kanit Light" pitchFamily="34" charset="-120"/>
              </a:rPr>
              <a:t>Data security</a:t>
            </a:r>
            <a:endParaRPr lang="en-US" sz="1350" dirty="0"/>
          </a:p>
        </p:txBody>
      </p:sp>
      <p:sp>
        <p:nvSpPr>
          <p:cNvPr id="6" name="Text 3"/>
          <p:cNvSpPr/>
          <p:nvPr/>
        </p:nvSpPr>
        <p:spPr>
          <a:xfrm>
            <a:off x="642640" y="2035448"/>
            <a:ext cx="1997422"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Encrypt data</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RBAC</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Audit logs</a:t>
            </a:r>
            <a:endParaRPr lang="en-US" sz="1100" dirty="0"/>
          </a:p>
        </p:txBody>
      </p:sp>
      <p:sp>
        <p:nvSpPr>
          <p:cNvPr id="7" name="Shape 4"/>
          <p:cNvSpPr/>
          <p:nvPr/>
        </p:nvSpPr>
        <p:spPr>
          <a:xfrm>
            <a:off x="2928342" y="1582415"/>
            <a:ext cx="2290539" cy="1379116"/>
          </a:xfrm>
          <a:prstGeom prst="roundRect">
            <a:avLst>
              <a:gd name="adj" fmla="val 4317"/>
            </a:avLst>
          </a:prstGeom>
          <a:solidFill>
            <a:srgbClr val="DFECE9"/>
          </a:solidFill>
          <a:ln w="4763">
            <a:solidFill>
              <a:srgbClr val="C5D2CF"/>
            </a:solidFill>
            <a:prstDash val="solid"/>
          </a:ln>
        </p:spPr>
      </p:sp>
      <p:sp>
        <p:nvSpPr>
          <p:cNvPr id="8" name="Text 5"/>
          <p:cNvSpPr/>
          <p:nvPr/>
        </p:nvSpPr>
        <p:spPr>
          <a:xfrm>
            <a:off x="3074863" y="1728936"/>
            <a:ext cx="1997497" cy="221456"/>
          </a:xfrm>
          <a:prstGeom prst="rect">
            <a:avLst/>
          </a:prstGeom>
          <a:noFill/>
          <a:ln/>
        </p:spPr>
        <p:txBody>
          <a:bodyPr wrap="none" lIns="0" tIns="0" rIns="0" bIns="0" rtlCol="0" anchor="t"/>
          <a:lstStyle/>
          <a:p>
            <a:pPr marL="0" indent="0" algn="l">
              <a:lnSpc>
                <a:spcPct val="104000"/>
              </a:lnSpc>
              <a:buNone/>
            </a:pPr>
            <a:r>
              <a:rPr lang="en-US" sz="1350" dirty="0">
                <a:solidFill>
                  <a:srgbClr val="2C3249"/>
                </a:solidFill>
                <a:latin typeface="Kanit Light" pitchFamily="34" charset="0"/>
                <a:ea typeface="Kanit Light" pitchFamily="34" charset="-122"/>
                <a:cs typeface="Kanit Light" pitchFamily="34" charset="-120"/>
              </a:rPr>
              <a:t>Scalability</a:t>
            </a:r>
            <a:endParaRPr lang="en-US" sz="1350" dirty="0"/>
          </a:p>
        </p:txBody>
      </p:sp>
      <p:sp>
        <p:nvSpPr>
          <p:cNvPr id="9" name="Text 6"/>
          <p:cNvSpPr/>
          <p:nvPr/>
        </p:nvSpPr>
        <p:spPr>
          <a:xfrm>
            <a:off x="3074863" y="2035448"/>
            <a:ext cx="1997497"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Cloud storage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Microservices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Horizontal scale</a:t>
            </a:r>
            <a:endParaRPr lang="en-US" sz="1100" dirty="0"/>
          </a:p>
        </p:txBody>
      </p:sp>
      <p:sp>
        <p:nvSpPr>
          <p:cNvPr id="10" name="Shape 7"/>
          <p:cNvSpPr/>
          <p:nvPr/>
        </p:nvSpPr>
        <p:spPr>
          <a:xfrm>
            <a:off x="496119" y="3103290"/>
            <a:ext cx="4722763" cy="1379116"/>
          </a:xfrm>
          <a:prstGeom prst="roundRect">
            <a:avLst>
              <a:gd name="adj" fmla="val 4317"/>
            </a:avLst>
          </a:prstGeom>
          <a:solidFill>
            <a:srgbClr val="DFECE9"/>
          </a:solidFill>
          <a:ln w="4763">
            <a:solidFill>
              <a:srgbClr val="C5D2CF"/>
            </a:solidFill>
            <a:prstDash val="solid"/>
          </a:ln>
        </p:spPr>
      </p:sp>
      <p:sp>
        <p:nvSpPr>
          <p:cNvPr id="11" name="Text 8"/>
          <p:cNvSpPr/>
          <p:nvPr/>
        </p:nvSpPr>
        <p:spPr>
          <a:xfrm>
            <a:off x="642640" y="3249811"/>
            <a:ext cx="4429720" cy="221456"/>
          </a:xfrm>
          <a:prstGeom prst="rect">
            <a:avLst/>
          </a:prstGeom>
          <a:noFill/>
          <a:ln/>
        </p:spPr>
        <p:txBody>
          <a:bodyPr wrap="none" lIns="0" tIns="0" rIns="0" bIns="0" rtlCol="0" anchor="t"/>
          <a:lstStyle/>
          <a:p>
            <a:pPr marL="0" indent="0" algn="l">
              <a:lnSpc>
                <a:spcPct val="104000"/>
              </a:lnSpc>
              <a:buNone/>
            </a:pPr>
            <a:r>
              <a:rPr lang="en-US" sz="1350" dirty="0">
                <a:solidFill>
                  <a:srgbClr val="2C3249"/>
                </a:solidFill>
                <a:latin typeface="Kanit Light" pitchFamily="34" charset="0"/>
                <a:ea typeface="Kanit Light" pitchFamily="34" charset="-122"/>
                <a:cs typeface="Kanit Light" pitchFamily="34" charset="-120"/>
              </a:rPr>
              <a:t>Accessible UX</a:t>
            </a:r>
            <a:endParaRPr lang="en-US" sz="1350" dirty="0"/>
          </a:p>
        </p:txBody>
      </p:sp>
      <p:sp>
        <p:nvSpPr>
          <p:cNvPr id="12" name="Text 9"/>
          <p:cNvSpPr/>
          <p:nvPr/>
        </p:nvSpPr>
        <p:spPr>
          <a:xfrm>
            <a:off x="642640" y="3556322"/>
            <a:ext cx="4429720"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Plain language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BN/EN support</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access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48568"/>
            <a:ext cx="4722763"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Conclusion &amp; References</a:t>
            </a:r>
            <a:endParaRPr lang="en-US" sz="1950" dirty="0"/>
          </a:p>
        </p:txBody>
      </p:sp>
      <p:sp>
        <p:nvSpPr>
          <p:cNvPr id="4" name="Text 1"/>
          <p:cNvSpPr/>
          <p:nvPr/>
        </p:nvSpPr>
        <p:spPr>
          <a:xfrm>
            <a:off x="496119" y="921395"/>
            <a:ext cx="5179963" cy="186035"/>
          </a:xfrm>
          <a:prstGeom prst="rect">
            <a:avLst/>
          </a:prstGeom>
          <a:noFill/>
          <a:ln/>
        </p:spPr>
        <p:txBody>
          <a:bodyPr wrap="none" lIns="0" tIns="0" rIns="0" bIns="0" rtlCol="0" anchor="t"/>
          <a:lstStyle/>
          <a:p>
            <a:pPr marL="0" indent="0" algn="l">
              <a:lnSpc>
                <a:spcPct val="125000"/>
              </a:lnSpc>
              <a:buNone/>
            </a:pPr>
            <a:r>
              <a:rPr lang="en-US" sz="950" b="1" dirty="0">
                <a:solidFill>
                  <a:srgbClr val="2C3249"/>
                </a:solidFill>
                <a:latin typeface="Martel Sans Bold" pitchFamily="34" charset="0"/>
                <a:ea typeface="Martel Sans Bold" pitchFamily="34" charset="-122"/>
                <a:cs typeface="Martel Sans Bold" pitchFamily="34" charset="-120"/>
              </a:rPr>
              <a:t>Conclusion:</a:t>
            </a:r>
            <a:endParaRPr lang="en-US" sz="950" dirty="0"/>
          </a:p>
        </p:txBody>
      </p:sp>
      <p:sp>
        <p:nvSpPr>
          <p:cNvPr id="5" name="Text 2"/>
          <p:cNvSpPr/>
          <p:nvPr/>
        </p:nvSpPr>
        <p:spPr>
          <a:xfrm>
            <a:off x="496119" y="1229469"/>
            <a:ext cx="4722763" cy="857994"/>
          </a:xfrm>
          <a:prstGeom prst="rect">
            <a:avLst/>
          </a:prstGeom>
          <a:noFill/>
          <a:ln/>
        </p:spPr>
        <p:txBody>
          <a:bodyPr wrap="square" lIns="0" tIns="0" rIns="0" bIns="0" rtlCol="0" anchor="t">
            <a:normAutofit/>
          </a:bodyPr>
          <a:lstStyle/>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Actionable insights</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OCR extraction</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Plain-language analysis</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Bangladesh profile</a:t>
            </a:r>
            <a:endParaRPr lang="en-US" sz="950" dirty="0"/>
          </a:p>
        </p:txBody>
      </p:sp>
      <p:sp>
        <p:nvSpPr>
          <p:cNvPr id="6" name="Text 3"/>
          <p:cNvSpPr/>
          <p:nvPr/>
        </p:nvSpPr>
        <p:spPr>
          <a:xfrm>
            <a:off x="496119" y="2250207"/>
            <a:ext cx="4722763" cy="193849"/>
          </a:xfrm>
          <a:prstGeom prst="rect">
            <a:avLst/>
          </a:prstGeom>
          <a:noFill/>
          <a:ln/>
        </p:spPr>
        <p:txBody>
          <a:bodyPr wrap="none" lIns="0" tIns="0" rIns="0" bIns="0" rtlCol="0" anchor="t"/>
          <a:lstStyle/>
          <a:p>
            <a:pPr marL="0" indent="0" algn="l">
              <a:lnSpc>
                <a:spcPct val="104000"/>
              </a:lnSpc>
              <a:buNone/>
            </a:pPr>
            <a:r>
              <a:rPr lang="en-US" sz="1200" dirty="0">
                <a:solidFill>
                  <a:srgbClr val="272D45"/>
                </a:solidFill>
                <a:latin typeface="Kanit Light" pitchFamily="34" charset="0"/>
                <a:ea typeface="Kanit Light" pitchFamily="34" charset="-122"/>
                <a:cs typeface="Kanit Light" pitchFamily="34" charset="-120"/>
              </a:rPr>
              <a:t>References</a:t>
            </a:r>
            <a:endParaRPr lang="en-US" sz="1200" dirty="0"/>
          </a:p>
        </p:txBody>
      </p:sp>
      <p:sp>
        <p:nvSpPr>
          <p:cNvPr id="7" name="Text 4"/>
          <p:cNvSpPr/>
          <p:nvPr/>
        </p:nvSpPr>
        <p:spPr>
          <a:xfrm>
            <a:off x="496119" y="2606799"/>
            <a:ext cx="4722763" cy="2088059"/>
          </a:xfrm>
          <a:prstGeom prst="rect">
            <a:avLst/>
          </a:prstGeom>
          <a:noFill/>
          <a:ln/>
        </p:spPr>
        <p:txBody>
          <a:bodyPr wrap="square" lIns="0" tIns="0" rIns="0" bIns="0" rtlCol="0" anchor="t">
            <a:normAutofit/>
          </a:bodyPr>
          <a:lstStyle/>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World Health Organization (WHO). </a:t>
            </a:r>
            <a:r>
              <a:rPr lang="en-US" sz="950" i="1" dirty="0">
                <a:solidFill>
                  <a:srgbClr val="2C3249"/>
                </a:solidFill>
                <a:latin typeface="Martel Sans" pitchFamily="34" charset="0"/>
                <a:ea typeface="Martel Sans" pitchFamily="34" charset="-122"/>
                <a:cs typeface="Martel Sans" pitchFamily="34" charset="-120"/>
              </a:rPr>
              <a:t>Global Strategy on Digital Health 2020–2025</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World Health Organization (WHO). </a:t>
            </a:r>
            <a:r>
              <a:rPr lang="en-US" sz="950" i="1" dirty="0">
                <a:solidFill>
                  <a:srgbClr val="2C3249"/>
                </a:solidFill>
                <a:latin typeface="Martel Sans" pitchFamily="34" charset="0"/>
                <a:ea typeface="Martel Sans" pitchFamily="34" charset="-122"/>
                <a:cs typeface="Martel Sans" pitchFamily="34" charset="-120"/>
              </a:rPr>
              <a:t>Health and Care Workforce in Bangladesh</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International Telecommunication Union (ITU). </a:t>
            </a:r>
            <a:r>
              <a:rPr lang="en-US" sz="950" i="1" dirty="0">
                <a:solidFill>
                  <a:srgbClr val="2C3249"/>
                </a:solidFill>
                <a:latin typeface="Martel Sans" pitchFamily="34" charset="0"/>
                <a:ea typeface="Martel Sans" pitchFamily="34" charset="-122"/>
                <a:cs typeface="Martel Sans" pitchFamily="34" charset="-120"/>
              </a:rPr>
              <a:t>Measuring Digital Development: Facts and Figures</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National Library of Medicine. </a:t>
            </a:r>
            <a:r>
              <a:rPr lang="en-US" sz="950" i="1" dirty="0">
                <a:solidFill>
                  <a:srgbClr val="2C3249"/>
                </a:solidFill>
                <a:latin typeface="Martel Sans" pitchFamily="34" charset="0"/>
                <a:ea typeface="Martel Sans" pitchFamily="34" charset="-122"/>
                <a:cs typeface="Martel Sans" pitchFamily="34" charset="-120"/>
              </a:rPr>
              <a:t>Artificial Intelligence in Health Care: A Review</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DocTime, Shohoz</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Ada Health, Babylon Health</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IEEE, Springer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677</Words>
  <Application>Microsoft Office PowerPoint</Application>
  <PresentationFormat>On-screen Show (16:9)</PresentationFormat>
  <Paragraphs>127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Martel Sans Bold</vt:lpstr>
      <vt:lpstr>Calibri</vt:lpstr>
      <vt:lpstr>Martel Sans</vt:lpstr>
      <vt:lpstr>Kanit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Tanvir_Miraz</dc:creator>
  <cp:lastModifiedBy>Tanvir Miraz</cp:lastModifiedBy>
  <cp:revision>3</cp:revision>
  <dcterms:created xsi:type="dcterms:W3CDTF">2026-07-12T20:25:41Z</dcterms:created>
  <dcterms:modified xsi:type="dcterms:W3CDTF">2026-07-13T03:53:30Z</dcterms:modified>
</cp:coreProperties>
</file>